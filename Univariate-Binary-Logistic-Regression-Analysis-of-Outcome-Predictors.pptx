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Edwardian Script ITC" panose="030303020407070D0804" pitchFamily="66" charset="77"/>
      <p:regular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FA"/>
    <a:srgbClr val="063155"/>
    <a:srgbClr val="505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347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75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62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preencoded.png">
            <a:extLst>
              <a:ext uri="{FF2B5EF4-FFF2-40B4-BE49-F238E27FC236}">
                <a16:creationId xmlns:a16="http://schemas.microsoft.com/office/drawing/2014/main" id="{4058AB8A-867C-6661-9FA4-211059FCB3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0"/>
            <a:ext cx="4944979" cy="6858000"/>
          </a:xfrm>
          <a:custGeom>
            <a:avLst/>
            <a:gdLst>
              <a:gd name="connsiteX0" fmla="*/ 0 w 4571886"/>
              <a:gd name="connsiteY0" fmla="*/ 0 h 6858000"/>
              <a:gd name="connsiteX1" fmla="*/ 4571883 w 4571886"/>
              <a:gd name="connsiteY1" fmla="*/ 0 h 6858000"/>
              <a:gd name="connsiteX2" fmla="*/ 4571885 w 4571886"/>
              <a:gd name="connsiteY2" fmla="*/ 3 h 6858000"/>
              <a:gd name="connsiteX3" fmla="*/ 4273306 w 4571886"/>
              <a:gd name="connsiteY3" fmla="*/ 298582 h 6858000"/>
              <a:gd name="connsiteX4" fmla="*/ 4571886 w 4571886"/>
              <a:gd name="connsiteY4" fmla="*/ 597162 h 6858000"/>
              <a:gd name="connsiteX5" fmla="*/ 4291968 w 4571886"/>
              <a:gd name="connsiteY5" fmla="*/ 877080 h 6858000"/>
              <a:gd name="connsiteX6" fmla="*/ 4571886 w 4571886"/>
              <a:gd name="connsiteY6" fmla="*/ 1156998 h 6858000"/>
              <a:gd name="connsiteX7" fmla="*/ 4273306 w 4571886"/>
              <a:gd name="connsiteY7" fmla="*/ 1455579 h 6858000"/>
              <a:gd name="connsiteX8" fmla="*/ 4571886 w 4571886"/>
              <a:gd name="connsiteY8" fmla="*/ 1754159 h 6858000"/>
              <a:gd name="connsiteX9" fmla="*/ 4291968 w 4571886"/>
              <a:gd name="connsiteY9" fmla="*/ 2034075 h 6858000"/>
              <a:gd name="connsiteX10" fmla="*/ 4571885 w 4571886"/>
              <a:gd name="connsiteY10" fmla="*/ 2313993 h 6858000"/>
              <a:gd name="connsiteX11" fmla="*/ 4273305 w 4571886"/>
              <a:gd name="connsiteY11" fmla="*/ 2612573 h 6858000"/>
              <a:gd name="connsiteX12" fmla="*/ 4571885 w 4571886"/>
              <a:gd name="connsiteY12" fmla="*/ 2911153 h 6858000"/>
              <a:gd name="connsiteX13" fmla="*/ 4291968 w 4571886"/>
              <a:gd name="connsiteY13" fmla="*/ 3191069 h 6858000"/>
              <a:gd name="connsiteX14" fmla="*/ 4571886 w 4571886"/>
              <a:gd name="connsiteY14" fmla="*/ 3470987 h 6858000"/>
              <a:gd name="connsiteX15" fmla="*/ 4273306 w 4571886"/>
              <a:gd name="connsiteY15" fmla="*/ 3769567 h 6858000"/>
              <a:gd name="connsiteX16" fmla="*/ 4571886 w 4571886"/>
              <a:gd name="connsiteY16" fmla="*/ 4068147 h 6858000"/>
              <a:gd name="connsiteX17" fmla="*/ 4338621 w 4571886"/>
              <a:gd name="connsiteY17" fmla="*/ 4301412 h 6858000"/>
              <a:gd name="connsiteX18" fmla="*/ 4571886 w 4571886"/>
              <a:gd name="connsiteY18" fmla="*/ 4534678 h 6858000"/>
              <a:gd name="connsiteX19" fmla="*/ 4273306 w 4571886"/>
              <a:gd name="connsiteY19" fmla="*/ 4833258 h 6858000"/>
              <a:gd name="connsiteX20" fmla="*/ 4571886 w 4571886"/>
              <a:gd name="connsiteY20" fmla="*/ 5131838 h 6858000"/>
              <a:gd name="connsiteX21" fmla="*/ 4291968 w 4571886"/>
              <a:gd name="connsiteY21" fmla="*/ 5411756 h 6858000"/>
              <a:gd name="connsiteX22" fmla="*/ 4571886 w 4571886"/>
              <a:gd name="connsiteY22" fmla="*/ 5691674 h 6858000"/>
              <a:gd name="connsiteX23" fmla="*/ 4273306 w 4571886"/>
              <a:gd name="connsiteY23" fmla="*/ 5990254 h 6858000"/>
              <a:gd name="connsiteX24" fmla="*/ 4571886 w 4571886"/>
              <a:gd name="connsiteY24" fmla="*/ 6288834 h 6858000"/>
              <a:gd name="connsiteX25" fmla="*/ 4291967 w 4571886"/>
              <a:gd name="connsiteY25" fmla="*/ 6568753 h 6858000"/>
              <a:gd name="connsiteX26" fmla="*/ 4571886 w 4571886"/>
              <a:gd name="connsiteY26" fmla="*/ 6848672 h 6858000"/>
              <a:gd name="connsiteX27" fmla="*/ 4562557 w 4571886"/>
              <a:gd name="connsiteY27" fmla="*/ 6858000 h 6858000"/>
              <a:gd name="connsiteX28" fmla="*/ 0 w 4571886"/>
              <a:gd name="connsiteY2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571886" h="6858000">
                <a:moveTo>
                  <a:pt x="0" y="0"/>
                </a:moveTo>
                <a:lnTo>
                  <a:pt x="4571883" y="0"/>
                </a:lnTo>
                <a:lnTo>
                  <a:pt x="4571885" y="3"/>
                </a:lnTo>
                <a:lnTo>
                  <a:pt x="4273306" y="298582"/>
                </a:lnTo>
                <a:lnTo>
                  <a:pt x="4571886" y="597162"/>
                </a:lnTo>
                <a:lnTo>
                  <a:pt x="4291968" y="877080"/>
                </a:lnTo>
                <a:lnTo>
                  <a:pt x="4571886" y="1156998"/>
                </a:lnTo>
                <a:lnTo>
                  <a:pt x="4273306" y="1455579"/>
                </a:lnTo>
                <a:lnTo>
                  <a:pt x="4571886" y="1754159"/>
                </a:lnTo>
                <a:lnTo>
                  <a:pt x="4291968" y="2034075"/>
                </a:lnTo>
                <a:lnTo>
                  <a:pt x="4571885" y="2313993"/>
                </a:lnTo>
                <a:lnTo>
                  <a:pt x="4273305" y="2612573"/>
                </a:lnTo>
                <a:lnTo>
                  <a:pt x="4571885" y="2911153"/>
                </a:lnTo>
                <a:lnTo>
                  <a:pt x="4291968" y="3191069"/>
                </a:lnTo>
                <a:lnTo>
                  <a:pt x="4571886" y="3470987"/>
                </a:lnTo>
                <a:lnTo>
                  <a:pt x="4273306" y="3769567"/>
                </a:lnTo>
                <a:lnTo>
                  <a:pt x="4571886" y="4068147"/>
                </a:lnTo>
                <a:lnTo>
                  <a:pt x="4338621" y="4301412"/>
                </a:lnTo>
                <a:lnTo>
                  <a:pt x="4571886" y="4534678"/>
                </a:lnTo>
                <a:lnTo>
                  <a:pt x="4273306" y="4833258"/>
                </a:lnTo>
                <a:lnTo>
                  <a:pt x="4571886" y="5131838"/>
                </a:lnTo>
                <a:lnTo>
                  <a:pt x="4291968" y="5411756"/>
                </a:lnTo>
                <a:lnTo>
                  <a:pt x="4571886" y="5691674"/>
                </a:lnTo>
                <a:lnTo>
                  <a:pt x="4273306" y="5990254"/>
                </a:lnTo>
                <a:lnTo>
                  <a:pt x="4571886" y="6288834"/>
                </a:lnTo>
                <a:lnTo>
                  <a:pt x="4291967" y="6568753"/>
                </a:lnTo>
                <a:lnTo>
                  <a:pt x="4571886" y="6848672"/>
                </a:lnTo>
                <a:lnTo>
                  <a:pt x="456255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606344" y="1026250"/>
            <a:ext cx="6437268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063155"/>
                </a:solidFill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Univariate Binary Logistic Regression Analysis of Metabolic Outcome </a:t>
            </a:r>
            <a:r>
              <a:rPr lang="en-US" sz="4000" b="1" spc="300" dirty="0">
                <a:solidFill>
                  <a:srgbClr val="063155"/>
                </a:solidFill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Predictors</a:t>
            </a:r>
            <a:endParaRPr lang="en-US" sz="4000" spc="300" dirty="0">
              <a:solidFill>
                <a:srgbClr val="0631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2AD4A-E56B-92A2-F2FB-161D7C2E79CC}"/>
              </a:ext>
            </a:extLst>
          </p:cNvPr>
          <p:cNvSpPr txBox="1"/>
          <p:nvPr/>
        </p:nvSpPr>
        <p:spPr>
          <a:xfrm>
            <a:off x="5606307" y="4804845"/>
            <a:ext cx="2685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63155"/>
                </a:solidFill>
                <a:latin typeface="Helvetica" pitchFamily="2" charset="0"/>
              </a:rPr>
              <a:t>Bhuiyan </a:t>
            </a:r>
            <a:r>
              <a:rPr lang="en-US" sz="2000" b="1" dirty="0" err="1">
                <a:solidFill>
                  <a:srgbClr val="063155"/>
                </a:solidFill>
                <a:latin typeface="Helvetica" pitchFamily="2" charset="0"/>
              </a:rPr>
              <a:t>Sadhin</a:t>
            </a:r>
            <a:endParaRPr lang="en-US" sz="2000" b="1" dirty="0">
              <a:solidFill>
                <a:srgbClr val="063155"/>
              </a:solidFill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2DD8B-3DB7-7D95-5607-38345884F7A8}"/>
              </a:ext>
            </a:extLst>
          </p:cNvPr>
          <p:cNvSpPr txBox="1"/>
          <p:nvPr/>
        </p:nvSpPr>
        <p:spPr>
          <a:xfrm>
            <a:off x="5606307" y="5204955"/>
            <a:ext cx="6296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rgbClr val="063155"/>
                </a:solidFill>
                <a:latin typeface="Helvetica" pitchFamily="2" charset="0"/>
              </a:rPr>
              <a:t>MSc Student of Irkutsk National Research Technical University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8AFCDE-CE57-7ACE-7014-CA48B5E8639E}"/>
              </a:ext>
            </a:extLst>
          </p:cNvPr>
          <p:cNvSpPr/>
          <p:nvPr/>
        </p:nvSpPr>
        <p:spPr>
          <a:xfrm>
            <a:off x="11091553" y="6448301"/>
            <a:ext cx="1100447" cy="409699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33003"/>
            <a:ext cx="6048422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Study Purpose &amp; Data Overview</a:t>
            </a:r>
            <a:endParaRPr lang="en-US"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 descr="preencoded.png">
            <a:extLst>
              <a:ext uri="{FF2B5EF4-FFF2-40B4-BE49-F238E27FC236}">
                <a16:creationId xmlns:a16="http://schemas.microsoft.com/office/drawing/2014/main" id="{AD065399-67D5-222F-D3B9-511A5130A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10461" y="-118753"/>
            <a:ext cx="8543342" cy="7089569"/>
          </a:xfrm>
          <a:custGeom>
            <a:avLst/>
            <a:gdLst>
              <a:gd name="connsiteX0" fmla="*/ 1678421 w 8543342"/>
              <a:gd name="connsiteY0" fmla="*/ 0 h 7089569"/>
              <a:gd name="connsiteX1" fmla="*/ 7021384 w 8543342"/>
              <a:gd name="connsiteY1" fmla="*/ 0 h 7089569"/>
              <a:gd name="connsiteX2" fmla="*/ 7140171 w 8543342"/>
              <a:gd name="connsiteY2" fmla="*/ 98545 h 7089569"/>
              <a:gd name="connsiteX3" fmla="*/ 8539264 w 8543342"/>
              <a:gd name="connsiteY3" fmla="*/ 2294820 h 7089569"/>
              <a:gd name="connsiteX4" fmla="*/ 8543342 w 8543342"/>
              <a:gd name="connsiteY4" fmla="*/ 2309979 h 7089569"/>
              <a:gd name="connsiteX5" fmla="*/ 8543342 w 8543342"/>
              <a:gd name="connsiteY5" fmla="*/ 5033757 h 7089569"/>
              <a:gd name="connsiteX6" fmla="*/ 8539264 w 8543342"/>
              <a:gd name="connsiteY6" fmla="*/ 5048916 h 7089569"/>
              <a:gd name="connsiteX7" fmla="*/ 7451678 w 8543342"/>
              <a:gd name="connsiteY7" fmla="*/ 6946314 h 7089569"/>
              <a:gd name="connsiteX8" fmla="*/ 7309346 w 8543342"/>
              <a:gd name="connsiteY8" fmla="*/ 7089569 h 7089569"/>
              <a:gd name="connsiteX9" fmla="*/ 1390459 w 8543342"/>
              <a:gd name="connsiteY9" fmla="*/ 7089569 h 7089569"/>
              <a:gd name="connsiteX10" fmla="*/ 1248126 w 8543342"/>
              <a:gd name="connsiteY10" fmla="*/ 6946314 h 7089569"/>
              <a:gd name="connsiteX11" fmla="*/ 13872 w 8543342"/>
              <a:gd name="connsiteY11" fmla="*/ 4377088 h 7089569"/>
              <a:gd name="connsiteX12" fmla="*/ 0 w 8543342"/>
              <a:gd name="connsiteY12" fmla="*/ 4261849 h 7089569"/>
              <a:gd name="connsiteX13" fmla="*/ 0 w 8543342"/>
              <a:gd name="connsiteY13" fmla="*/ 3081887 h 7089569"/>
              <a:gd name="connsiteX14" fmla="*/ 13872 w 8543342"/>
              <a:gd name="connsiteY14" fmla="*/ 2966648 h 7089569"/>
              <a:gd name="connsiteX15" fmla="*/ 1559634 w 8543342"/>
              <a:gd name="connsiteY15" fmla="*/ 98545 h 7089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543342" h="7089569">
                <a:moveTo>
                  <a:pt x="1678421" y="0"/>
                </a:moveTo>
                <a:lnTo>
                  <a:pt x="7021384" y="0"/>
                </a:lnTo>
                <a:lnTo>
                  <a:pt x="7140171" y="98545"/>
                </a:lnTo>
                <a:cubicBezTo>
                  <a:pt x="7790106" y="664778"/>
                  <a:pt x="8282930" y="1424802"/>
                  <a:pt x="8539264" y="2294820"/>
                </a:cubicBezTo>
                <a:lnTo>
                  <a:pt x="8543342" y="2309979"/>
                </a:lnTo>
                <a:lnTo>
                  <a:pt x="8543342" y="5033757"/>
                </a:lnTo>
                <a:lnTo>
                  <a:pt x="8539264" y="5048916"/>
                </a:lnTo>
                <a:cubicBezTo>
                  <a:pt x="8325653" y="5773931"/>
                  <a:pt x="7947812" y="6422561"/>
                  <a:pt x="7451678" y="6946314"/>
                </a:cubicBezTo>
                <a:lnTo>
                  <a:pt x="7309346" y="7089569"/>
                </a:lnTo>
                <a:lnTo>
                  <a:pt x="1390459" y="7089569"/>
                </a:lnTo>
                <a:lnTo>
                  <a:pt x="1248126" y="6946314"/>
                </a:lnTo>
                <a:cubicBezTo>
                  <a:pt x="603153" y="6265436"/>
                  <a:pt x="158094" y="5373514"/>
                  <a:pt x="13872" y="4377088"/>
                </a:cubicBezTo>
                <a:lnTo>
                  <a:pt x="0" y="4261849"/>
                </a:lnTo>
                <a:lnTo>
                  <a:pt x="0" y="3081887"/>
                </a:lnTo>
                <a:lnTo>
                  <a:pt x="13872" y="2966648"/>
                </a:lnTo>
                <a:cubicBezTo>
                  <a:pt x="180282" y="1816926"/>
                  <a:pt x="747214" y="806337"/>
                  <a:pt x="1559634" y="98545"/>
                </a:cubicBezTo>
                <a:close/>
              </a:path>
            </a:pathLst>
          </a:custGeom>
        </p:spPr>
      </p:pic>
      <p:sp>
        <p:nvSpPr>
          <p:cNvPr id="4" name="Text 1"/>
          <p:cNvSpPr/>
          <p:nvPr/>
        </p:nvSpPr>
        <p:spPr>
          <a:xfrm>
            <a:off x="661574" y="1573364"/>
            <a:ext cx="26178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Objective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574" y="2038231"/>
            <a:ext cx="4895945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3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Identify significant predictors of a binary outcome using univariate logistic regression across 31 variables spanning demographics, hormones, lipids, and antioxidants.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1575" y="3113614"/>
            <a:ext cx="26178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Dataset Overview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61574" y="3530283"/>
            <a:ext cx="3549164" cy="2108795"/>
          </a:xfrm>
          <a:prstGeom prst="roundRect">
            <a:avLst>
              <a:gd name="adj" fmla="val 320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8555" y="3624838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Parameter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596788" y="3624838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Value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8555" y="4045327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Sample Size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596788" y="4045327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1,148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8555" y="4465816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Total Variables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596788" y="4465816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8555" y="4886305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Outcome = 0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596788" y="4886305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987 (86%)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8555" y="5306794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Outcome = 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596788" y="5306794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160 (14%)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1574" y="5792668"/>
            <a:ext cx="1186130" cy="286345"/>
          </a:xfrm>
          <a:prstGeom prst="roundRect">
            <a:avLst>
              <a:gd name="adj" fmla="val 18853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7913" y="5840790"/>
            <a:ext cx="1603037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927971" y="5792668"/>
            <a:ext cx="920826" cy="286345"/>
          </a:xfrm>
          <a:prstGeom prst="roundRect">
            <a:avLst>
              <a:gd name="adj" fmla="val 18853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024310" y="5840790"/>
            <a:ext cx="1337733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HORMONES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29063" y="5792668"/>
            <a:ext cx="572577" cy="286345"/>
          </a:xfrm>
          <a:prstGeom prst="roundRect">
            <a:avLst>
              <a:gd name="adj" fmla="val 18853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025402" y="5840790"/>
            <a:ext cx="989484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LIPIDS</a:t>
            </a:r>
            <a:endParaRPr lang="en-US" sz="10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39AA1C7-E418-9651-AB15-28DA8EA5B9B8}"/>
              </a:ext>
            </a:extLst>
          </p:cNvPr>
          <p:cNvGrpSpPr/>
          <p:nvPr/>
        </p:nvGrpSpPr>
        <p:grpSpPr>
          <a:xfrm>
            <a:off x="3597979" y="5790149"/>
            <a:ext cx="1616014" cy="286345"/>
            <a:chOff x="3625065" y="5785446"/>
            <a:chExt cx="1616014" cy="286345"/>
          </a:xfrm>
        </p:grpSpPr>
        <p:sp>
          <p:nvSpPr>
            <p:cNvPr id="24" name="Shape 21"/>
            <p:cNvSpPr/>
            <p:nvPr/>
          </p:nvSpPr>
          <p:spPr>
            <a:xfrm>
              <a:off x="3625065" y="5785446"/>
              <a:ext cx="1099812" cy="286345"/>
            </a:xfrm>
            <a:prstGeom prst="roundRect">
              <a:avLst>
                <a:gd name="adj" fmla="val 18853"/>
              </a:avLst>
            </a:prstGeom>
            <a:solidFill>
              <a:srgbClr val="EBE2E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2"/>
            <p:cNvSpPr/>
            <p:nvPr/>
          </p:nvSpPr>
          <p:spPr>
            <a:xfrm>
              <a:off x="3724360" y="5840790"/>
              <a:ext cx="1516719" cy="1901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000" dirty="0">
                  <a:solidFill>
                    <a:srgbClr val="443728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ANTIOXIDANTS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77FD006D-A3B3-11DC-2631-774B5723D1D4}"/>
              </a:ext>
            </a:extLst>
          </p:cNvPr>
          <p:cNvSpPr/>
          <p:nvPr/>
        </p:nvSpPr>
        <p:spPr>
          <a:xfrm>
            <a:off x="661574" y="533003"/>
            <a:ext cx="6048422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Methodology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3150" b="1" dirty="0">
              <a:solidFill>
                <a:srgbClr val="443728"/>
              </a:solidFill>
              <a:latin typeface="Times New Roman" panose="02020603050405020304" pitchFamily="18" charset="0"/>
              <a:ea typeface="Crimson Pro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Freeform: Shape 870">
            <a:extLst>
              <a:ext uri="{FF2B5EF4-FFF2-40B4-BE49-F238E27FC236}">
                <a16:creationId xmlns:a16="http://schemas.microsoft.com/office/drawing/2014/main" id="{D36F91FC-63FC-EC19-801E-9D4FB5D53F67}"/>
              </a:ext>
            </a:extLst>
          </p:cNvPr>
          <p:cNvSpPr/>
          <p:nvPr/>
        </p:nvSpPr>
        <p:spPr>
          <a:xfrm>
            <a:off x="3450803" y="1929804"/>
            <a:ext cx="2644394" cy="2510227"/>
          </a:xfrm>
          <a:custGeom>
            <a:avLst/>
            <a:gdLst>
              <a:gd name="connsiteX0" fmla="*/ 0 w 1679245"/>
              <a:gd name="connsiteY0" fmla="*/ 0 h 1594046"/>
              <a:gd name="connsiteX1" fmla="*/ 109385 w 1679245"/>
              <a:gd name="connsiteY1" fmla="*/ 73656 h 1594046"/>
              <a:gd name="connsiteX2" fmla="*/ 338323 w 1679245"/>
              <a:gd name="connsiteY2" fmla="*/ 171223 h 1594046"/>
              <a:gd name="connsiteX3" fmla="*/ 703579 w 1679245"/>
              <a:gd name="connsiteY3" fmla="*/ 253124 h 1594046"/>
              <a:gd name="connsiteX4" fmla="*/ 981163 w 1679245"/>
              <a:gd name="connsiteY4" fmla="*/ 306167 h 1594046"/>
              <a:gd name="connsiteX5" fmla="*/ 1305469 w 1679245"/>
              <a:gd name="connsiteY5" fmla="*/ 479863 h 1594046"/>
              <a:gd name="connsiteX6" fmla="*/ 1639944 w 1679245"/>
              <a:gd name="connsiteY6" fmla="*/ 1030358 h 1594046"/>
              <a:gd name="connsiteX7" fmla="*/ 1670176 w 1679245"/>
              <a:gd name="connsiteY7" fmla="*/ 1484936 h 1594046"/>
              <a:gd name="connsiteX8" fmla="*/ 1646815 w 1679245"/>
              <a:gd name="connsiteY8" fmla="*/ 1596245 h 1594046"/>
              <a:gd name="connsiteX9" fmla="*/ 1615483 w 1679245"/>
              <a:gd name="connsiteY9" fmla="*/ 1475592 h 1594046"/>
              <a:gd name="connsiteX10" fmla="*/ 1508572 w 1679245"/>
              <a:gd name="connsiteY10" fmla="*/ 1248578 h 1594046"/>
              <a:gd name="connsiteX11" fmla="*/ 1273863 w 1679245"/>
              <a:gd name="connsiteY11" fmla="*/ 1103190 h 1594046"/>
              <a:gd name="connsiteX12" fmla="*/ 1111160 w 1679245"/>
              <a:gd name="connsiteY12" fmla="*/ 1108687 h 1594046"/>
              <a:gd name="connsiteX13" fmla="*/ 891567 w 1679245"/>
              <a:gd name="connsiteY13" fmla="*/ 1131773 h 1594046"/>
              <a:gd name="connsiteX14" fmla="*/ 685165 w 1679245"/>
              <a:gd name="connsiteY14" fmla="*/ 1041627 h 1594046"/>
              <a:gd name="connsiteX15" fmla="*/ 645864 w 1679245"/>
              <a:gd name="connsiteY15" fmla="*/ 910255 h 1594046"/>
              <a:gd name="connsiteX16" fmla="*/ 626900 w 1679245"/>
              <a:gd name="connsiteY16" fmla="*/ 828904 h 1594046"/>
              <a:gd name="connsiteX17" fmla="*/ 563688 w 1679245"/>
              <a:gd name="connsiteY17" fmla="*/ 747828 h 1594046"/>
              <a:gd name="connsiteX18" fmla="*/ 311389 w 1679245"/>
              <a:gd name="connsiteY18" fmla="*/ 483436 h 1594046"/>
              <a:gd name="connsiteX19" fmla="*/ 87398 w 1679245"/>
              <a:gd name="connsiteY19" fmla="*/ 230862 h 1594046"/>
              <a:gd name="connsiteX20" fmla="*/ 2199 w 1679245"/>
              <a:gd name="connsiteY20" fmla="*/ 26934 h 1594046"/>
              <a:gd name="connsiteX21" fmla="*/ 0 w 1679245"/>
              <a:gd name="connsiteY21" fmla="*/ 21987 h 1594046"/>
              <a:gd name="connsiteX22" fmla="*/ 0 w 1679245"/>
              <a:gd name="connsiteY22" fmla="*/ 0 h 159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79245" h="1594046">
                <a:moveTo>
                  <a:pt x="0" y="0"/>
                </a:moveTo>
                <a:cubicBezTo>
                  <a:pt x="36553" y="24460"/>
                  <a:pt x="72557" y="49470"/>
                  <a:pt x="109385" y="73656"/>
                </a:cubicBezTo>
                <a:cubicBezTo>
                  <a:pt x="179742" y="120103"/>
                  <a:pt x="258620" y="146487"/>
                  <a:pt x="338323" y="171223"/>
                </a:cubicBezTo>
                <a:cubicBezTo>
                  <a:pt x="457876" y="208325"/>
                  <a:pt x="580728" y="230587"/>
                  <a:pt x="703579" y="253124"/>
                </a:cubicBezTo>
                <a:cubicBezTo>
                  <a:pt x="796199" y="270163"/>
                  <a:pt x="889093" y="286653"/>
                  <a:pt x="981163" y="306167"/>
                </a:cubicBezTo>
                <a:cubicBezTo>
                  <a:pt x="1105938" y="332276"/>
                  <a:pt x="1211200" y="396588"/>
                  <a:pt x="1305469" y="479863"/>
                </a:cubicBezTo>
                <a:cubicBezTo>
                  <a:pt x="1473943" y="628549"/>
                  <a:pt x="1581404" y="814887"/>
                  <a:pt x="1639944" y="1030358"/>
                </a:cubicBezTo>
                <a:cubicBezTo>
                  <a:pt x="1680619" y="1179594"/>
                  <a:pt x="1691338" y="1331303"/>
                  <a:pt x="1670176" y="1484936"/>
                </a:cubicBezTo>
                <a:cubicBezTo>
                  <a:pt x="1664954" y="1522314"/>
                  <a:pt x="1656709" y="1559417"/>
                  <a:pt x="1646815" y="1596245"/>
                </a:cubicBezTo>
                <a:cubicBezTo>
                  <a:pt x="1636371" y="1556119"/>
                  <a:pt x="1626752" y="1515443"/>
                  <a:pt x="1615483" y="1475592"/>
                </a:cubicBezTo>
                <a:cubicBezTo>
                  <a:pt x="1592397" y="1393966"/>
                  <a:pt x="1561341" y="1315913"/>
                  <a:pt x="1508572" y="1248578"/>
                </a:cubicBezTo>
                <a:cubicBezTo>
                  <a:pt x="1448383" y="1171624"/>
                  <a:pt x="1372254" y="1118856"/>
                  <a:pt x="1273863" y="1103190"/>
                </a:cubicBezTo>
                <a:cubicBezTo>
                  <a:pt x="1219445" y="1094395"/>
                  <a:pt x="1165303" y="1100167"/>
                  <a:pt x="1111160" y="1108687"/>
                </a:cubicBezTo>
                <a:cubicBezTo>
                  <a:pt x="1038329" y="1119955"/>
                  <a:pt x="966047" y="1134521"/>
                  <a:pt x="891567" y="1131773"/>
                </a:cubicBezTo>
                <a:cubicBezTo>
                  <a:pt x="810765" y="1128750"/>
                  <a:pt x="739857" y="1103465"/>
                  <a:pt x="685165" y="1041627"/>
                </a:cubicBezTo>
                <a:cubicBezTo>
                  <a:pt x="651910" y="1003974"/>
                  <a:pt x="634046" y="961100"/>
                  <a:pt x="645864" y="910255"/>
                </a:cubicBezTo>
                <a:cubicBezTo>
                  <a:pt x="652734" y="879749"/>
                  <a:pt x="644764" y="853090"/>
                  <a:pt x="626900" y="828904"/>
                </a:cubicBezTo>
                <a:cubicBezTo>
                  <a:pt x="606562" y="801420"/>
                  <a:pt x="587049" y="772563"/>
                  <a:pt x="563688" y="747828"/>
                </a:cubicBezTo>
                <a:cubicBezTo>
                  <a:pt x="480413" y="659056"/>
                  <a:pt x="395763" y="571383"/>
                  <a:pt x="311389" y="483436"/>
                </a:cubicBezTo>
                <a:cubicBezTo>
                  <a:pt x="233885" y="401810"/>
                  <a:pt x="154732" y="321558"/>
                  <a:pt x="87398" y="230862"/>
                </a:cubicBezTo>
                <a:cubicBezTo>
                  <a:pt x="42050" y="169848"/>
                  <a:pt x="10169" y="103613"/>
                  <a:pt x="2199" y="26934"/>
                </a:cubicBezTo>
                <a:cubicBezTo>
                  <a:pt x="1924" y="25285"/>
                  <a:pt x="825" y="23636"/>
                  <a:pt x="0" y="21987"/>
                </a:cubicBezTo>
                <a:cubicBezTo>
                  <a:pt x="0" y="14566"/>
                  <a:pt x="0" y="7421"/>
                  <a:pt x="0" y="0"/>
                </a:cubicBezTo>
                <a:close/>
              </a:path>
            </a:pathLst>
          </a:custGeom>
          <a:solidFill>
            <a:schemeClr val="accent4"/>
          </a:solidFill>
          <a:ln w="27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871">
            <a:extLst>
              <a:ext uri="{FF2B5EF4-FFF2-40B4-BE49-F238E27FC236}">
                <a16:creationId xmlns:a16="http://schemas.microsoft.com/office/drawing/2014/main" id="{7245B5F6-32CF-EFDA-90B8-6148A2079FA2}"/>
              </a:ext>
            </a:extLst>
          </p:cNvPr>
          <p:cNvSpPr/>
          <p:nvPr/>
        </p:nvSpPr>
        <p:spPr>
          <a:xfrm>
            <a:off x="6335287" y="1930669"/>
            <a:ext cx="2653050" cy="2505899"/>
          </a:xfrm>
          <a:custGeom>
            <a:avLst/>
            <a:gdLst>
              <a:gd name="connsiteX0" fmla="*/ 1686188 w 1684741"/>
              <a:gd name="connsiteY0" fmla="*/ 46172 h 1591297"/>
              <a:gd name="connsiteX1" fmla="*/ 1580376 w 1684741"/>
              <a:gd name="connsiteY1" fmla="*/ 255322 h 1591297"/>
              <a:gd name="connsiteX2" fmla="*/ 1398435 w 1684741"/>
              <a:gd name="connsiteY2" fmla="*/ 453479 h 1591297"/>
              <a:gd name="connsiteX3" fmla="*/ 1118653 w 1684741"/>
              <a:gd name="connsiteY3" fmla="*/ 750026 h 1591297"/>
              <a:gd name="connsiteX4" fmla="*/ 1051318 w 1684741"/>
              <a:gd name="connsiteY4" fmla="*/ 836874 h 1591297"/>
              <a:gd name="connsiteX5" fmla="*/ 1037027 w 1684741"/>
              <a:gd name="connsiteY5" fmla="*/ 886619 h 1591297"/>
              <a:gd name="connsiteX6" fmla="*/ 1015314 w 1684741"/>
              <a:gd name="connsiteY6" fmla="*/ 1018266 h 1591297"/>
              <a:gd name="connsiteX7" fmla="*/ 882844 w 1684741"/>
              <a:gd name="connsiteY7" fmla="*/ 1118031 h 1591297"/>
              <a:gd name="connsiteX8" fmla="*/ 723439 w 1684741"/>
              <a:gd name="connsiteY8" fmla="*/ 1124627 h 1591297"/>
              <a:gd name="connsiteX9" fmla="*/ 542872 w 1684741"/>
              <a:gd name="connsiteY9" fmla="*/ 1098243 h 1591297"/>
              <a:gd name="connsiteX10" fmla="*/ 146284 w 1684741"/>
              <a:gd name="connsiteY10" fmla="*/ 1284032 h 1591297"/>
              <a:gd name="connsiteX11" fmla="*/ 56413 w 1684741"/>
              <a:gd name="connsiteY11" fmla="*/ 1508297 h 1591297"/>
              <a:gd name="connsiteX12" fmla="*/ 37999 w 1684741"/>
              <a:gd name="connsiteY12" fmla="*/ 1592122 h 1591297"/>
              <a:gd name="connsiteX13" fmla="*/ 33602 w 1684741"/>
              <a:gd name="connsiteY13" fmla="*/ 1592672 h 1591297"/>
              <a:gd name="connsiteX14" fmla="*/ 13264 w 1684741"/>
              <a:gd name="connsiteY14" fmla="*/ 1498678 h 1591297"/>
              <a:gd name="connsiteX15" fmla="*/ 339769 w 1684741"/>
              <a:gd name="connsiteY15" fmla="*/ 514492 h 1591297"/>
              <a:gd name="connsiteX16" fmla="*/ 775933 w 1684741"/>
              <a:gd name="connsiteY16" fmla="*/ 290776 h 1591297"/>
              <a:gd name="connsiteX17" fmla="*/ 1322031 w 1684741"/>
              <a:gd name="connsiteY17" fmla="*/ 180842 h 1591297"/>
              <a:gd name="connsiteX18" fmla="*/ 1591919 w 1684741"/>
              <a:gd name="connsiteY18" fmla="*/ 72557 h 1591297"/>
              <a:gd name="connsiteX19" fmla="*/ 1655681 w 1684741"/>
              <a:gd name="connsiteY19" fmla="*/ 22811 h 1591297"/>
              <a:gd name="connsiteX20" fmla="*/ 1680417 w 1684741"/>
              <a:gd name="connsiteY20" fmla="*/ 0 h 1591297"/>
              <a:gd name="connsiteX21" fmla="*/ 1685913 w 1684741"/>
              <a:gd name="connsiteY21" fmla="*/ 13742 h 1591297"/>
              <a:gd name="connsiteX22" fmla="*/ 1686188 w 1684741"/>
              <a:gd name="connsiteY22" fmla="*/ 46172 h 1591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741" h="1591297">
                <a:moveTo>
                  <a:pt x="1686188" y="46172"/>
                </a:moveTo>
                <a:cubicBezTo>
                  <a:pt x="1667224" y="123951"/>
                  <a:pt x="1627648" y="191560"/>
                  <a:pt x="1580376" y="255322"/>
                </a:cubicBezTo>
                <a:cubicBezTo>
                  <a:pt x="1526783" y="327604"/>
                  <a:pt x="1462747" y="390816"/>
                  <a:pt x="1398435" y="453479"/>
                </a:cubicBezTo>
                <a:cubicBezTo>
                  <a:pt x="1301143" y="548297"/>
                  <a:pt x="1203852" y="643665"/>
                  <a:pt x="1118653" y="750026"/>
                </a:cubicBezTo>
                <a:cubicBezTo>
                  <a:pt x="1095841" y="778609"/>
                  <a:pt x="1073580" y="807742"/>
                  <a:pt x="1051318" y="836874"/>
                </a:cubicBezTo>
                <a:cubicBezTo>
                  <a:pt x="1040050" y="851441"/>
                  <a:pt x="1033454" y="867381"/>
                  <a:pt x="1037027" y="886619"/>
                </a:cubicBezTo>
                <a:cubicBezTo>
                  <a:pt x="1045821" y="933067"/>
                  <a:pt x="1043073" y="978140"/>
                  <a:pt x="1015314" y="1018266"/>
                </a:cubicBezTo>
                <a:cubicBezTo>
                  <a:pt x="982334" y="1066087"/>
                  <a:pt x="939185" y="1100716"/>
                  <a:pt x="882844" y="1118031"/>
                </a:cubicBezTo>
                <a:cubicBezTo>
                  <a:pt x="830350" y="1133971"/>
                  <a:pt x="776757" y="1131773"/>
                  <a:pt x="723439" y="1124627"/>
                </a:cubicBezTo>
                <a:cubicBezTo>
                  <a:pt x="663250" y="1116657"/>
                  <a:pt x="603061" y="1106488"/>
                  <a:pt x="542872" y="1098243"/>
                </a:cubicBezTo>
                <a:cubicBezTo>
                  <a:pt x="370825" y="1074607"/>
                  <a:pt x="242202" y="1144965"/>
                  <a:pt x="146284" y="1284032"/>
                </a:cubicBezTo>
                <a:cubicBezTo>
                  <a:pt x="99562" y="1351916"/>
                  <a:pt x="74827" y="1428870"/>
                  <a:pt x="56413" y="1508297"/>
                </a:cubicBezTo>
                <a:cubicBezTo>
                  <a:pt x="49817" y="1536056"/>
                  <a:pt x="44046" y="1564089"/>
                  <a:pt x="37999" y="1592122"/>
                </a:cubicBezTo>
                <a:cubicBezTo>
                  <a:pt x="36625" y="1592397"/>
                  <a:pt x="34976" y="1592397"/>
                  <a:pt x="33602" y="1592672"/>
                </a:cubicBezTo>
                <a:cubicBezTo>
                  <a:pt x="26731" y="1561341"/>
                  <a:pt x="18761" y="1530284"/>
                  <a:pt x="13264" y="1498678"/>
                </a:cubicBezTo>
                <a:cubicBezTo>
                  <a:pt x="-46100" y="1167776"/>
                  <a:pt x="99287" y="751400"/>
                  <a:pt x="339769" y="514492"/>
                </a:cubicBezTo>
                <a:cubicBezTo>
                  <a:pt x="462070" y="394114"/>
                  <a:pt x="606634" y="321008"/>
                  <a:pt x="775933" y="290776"/>
                </a:cubicBezTo>
                <a:cubicBezTo>
                  <a:pt x="958698" y="257796"/>
                  <a:pt x="1140639" y="219868"/>
                  <a:pt x="1322031" y="180842"/>
                </a:cubicBezTo>
                <a:cubicBezTo>
                  <a:pt x="1417674" y="160229"/>
                  <a:pt x="1509469" y="126974"/>
                  <a:pt x="1591919" y="72557"/>
                </a:cubicBezTo>
                <a:cubicBezTo>
                  <a:pt x="1614456" y="57715"/>
                  <a:pt x="1634794" y="39851"/>
                  <a:pt x="1655681" y="22811"/>
                </a:cubicBezTo>
                <a:cubicBezTo>
                  <a:pt x="1664201" y="15940"/>
                  <a:pt x="1671622" y="8245"/>
                  <a:pt x="1680417" y="0"/>
                </a:cubicBezTo>
                <a:cubicBezTo>
                  <a:pt x="1682615" y="5497"/>
                  <a:pt x="1684264" y="9619"/>
                  <a:pt x="1685913" y="13742"/>
                </a:cubicBezTo>
                <a:cubicBezTo>
                  <a:pt x="1686188" y="24186"/>
                  <a:pt x="1686188" y="35179"/>
                  <a:pt x="1686188" y="46172"/>
                </a:cubicBezTo>
                <a:close/>
              </a:path>
            </a:pathLst>
          </a:custGeom>
          <a:solidFill>
            <a:schemeClr val="accent3"/>
          </a:solidFill>
          <a:ln w="27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Freeform: Shape 872">
            <a:extLst>
              <a:ext uri="{FF2B5EF4-FFF2-40B4-BE49-F238E27FC236}">
                <a16:creationId xmlns:a16="http://schemas.microsoft.com/office/drawing/2014/main" id="{7F3AD792-E169-2E0E-A5AC-D40C933CED27}"/>
              </a:ext>
            </a:extLst>
          </p:cNvPr>
          <p:cNvSpPr/>
          <p:nvPr/>
        </p:nvSpPr>
        <p:spPr>
          <a:xfrm>
            <a:off x="4244394" y="3910723"/>
            <a:ext cx="1833030" cy="1708052"/>
          </a:xfrm>
          <a:custGeom>
            <a:avLst/>
            <a:gdLst>
              <a:gd name="connsiteX0" fmla="*/ 776207 w 967421"/>
              <a:gd name="connsiteY0" fmla="*/ 903405 h 901460"/>
              <a:gd name="connsiteX1" fmla="*/ 757519 w 967421"/>
              <a:gd name="connsiteY1" fmla="*/ 895984 h 901460"/>
              <a:gd name="connsiteX2" fmla="*/ 889165 w 967421"/>
              <a:gd name="connsiteY2" fmla="*/ 789073 h 901460"/>
              <a:gd name="connsiteX3" fmla="*/ 883393 w 967421"/>
              <a:gd name="connsiteY3" fmla="*/ 685735 h 901460"/>
              <a:gd name="connsiteX4" fmla="*/ 583548 w 967421"/>
              <a:gd name="connsiteY4" fmla="*/ 650006 h 901460"/>
              <a:gd name="connsiteX5" fmla="*/ 530230 w 967421"/>
              <a:gd name="connsiteY5" fmla="*/ 505718 h 901460"/>
              <a:gd name="connsiteX6" fmla="*/ 541223 w 967421"/>
              <a:gd name="connsiteY6" fmla="*/ 532377 h 901460"/>
              <a:gd name="connsiteX7" fmla="*/ 623949 w 967421"/>
              <a:gd name="connsiteY7" fmla="*/ 626645 h 901460"/>
              <a:gd name="connsiteX8" fmla="*/ 752572 w 967421"/>
              <a:gd name="connsiteY8" fmla="*/ 582122 h 901460"/>
              <a:gd name="connsiteX9" fmla="*/ 726737 w 967421"/>
              <a:gd name="connsiteY9" fmla="*/ 446353 h 901460"/>
              <a:gd name="connsiteX10" fmla="*/ 557988 w 967421"/>
              <a:gd name="connsiteY10" fmla="*/ 365002 h 901460"/>
              <a:gd name="connsiteX11" fmla="*/ 369451 w 967421"/>
              <a:gd name="connsiteY11" fmla="*/ 374072 h 901460"/>
              <a:gd name="connsiteX12" fmla="*/ 244126 w 967421"/>
              <a:gd name="connsiteY12" fmla="*/ 390562 h 901460"/>
              <a:gd name="connsiteX13" fmla="*/ 75377 w 967421"/>
              <a:gd name="connsiteY13" fmla="*/ 342190 h 901460"/>
              <a:gd name="connsiteX14" fmla="*/ 14363 w 967421"/>
              <a:gd name="connsiteY14" fmla="*/ 236379 h 901460"/>
              <a:gd name="connsiteX15" fmla="*/ 17661 w 967421"/>
              <a:gd name="connsiteY15" fmla="*/ 29703 h 901460"/>
              <a:gd name="connsiteX16" fmla="*/ 24257 w 967421"/>
              <a:gd name="connsiteY16" fmla="*/ 12938 h 901460"/>
              <a:gd name="connsiteX17" fmla="*/ 330149 w 967421"/>
              <a:gd name="connsiteY17" fmla="*/ 39322 h 901460"/>
              <a:gd name="connsiteX18" fmla="*/ 487080 w 967421"/>
              <a:gd name="connsiteY18" fmla="*/ 5517 h 901460"/>
              <a:gd name="connsiteX19" fmla="*/ 758343 w 967421"/>
              <a:gd name="connsiteY19" fmla="*/ 73676 h 901460"/>
              <a:gd name="connsiteX20" fmla="*/ 938910 w 967421"/>
              <a:gd name="connsiteY20" fmla="*/ 348787 h 901460"/>
              <a:gd name="connsiteX21" fmla="*/ 937536 w 967421"/>
              <a:gd name="connsiteY21" fmla="*/ 759116 h 901460"/>
              <a:gd name="connsiteX22" fmla="*/ 904281 w 967421"/>
              <a:gd name="connsiteY22" fmla="*/ 835795 h 901460"/>
              <a:gd name="connsiteX23" fmla="*/ 814959 w 967421"/>
              <a:gd name="connsiteY23" fmla="*/ 899832 h 901460"/>
              <a:gd name="connsiteX24" fmla="*/ 803416 w 967421"/>
              <a:gd name="connsiteY24" fmla="*/ 903405 h 901460"/>
              <a:gd name="connsiteX25" fmla="*/ 776207 w 967421"/>
              <a:gd name="connsiteY25" fmla="*/ 903405 h 90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967421" h="901460">
                <a:moveTo>
                  <a:pt x="776207" y="903405"/>
                </a:moveTo>
                <a:cubicBezTo>
                  <a:pt x="769886" y="900931"/>
                  <a:pt x="763840" y="898458"/>
                  <a:pt x="757519" y="895984"/>
                </a:cubicBezTo>
                <a:cubicBezTo>
                  <a:pt x="825953" y="890213"/>
                  <a:pt x="870201" y="855308"/>
                  <a:pt x="889165" y="789073"/>
                </a:cubicBezTo>
                <a:cubicBezTo>
                  <a:pt x="903731" y="738229"/>
                  <a:pt x="902906" y="710470"/>
                  <a:pt x="883393" y="685735"/>
                </a:cubicBezTo>
                <a:cubicBezTo>
                  <a:pt x="774283" y="758566"/>
                  <a:pt x="673419" y="740977"/>
                  <a:pt x="583548" y="650006"/>
                </a:cubicBezTo>
                <a:cubicBezTo>
                  <a:pt x="545071" y="611255"/>
                  <a:pt x="519236" y="564807"/>
                  <a:pt x="530230" y="505718"/>
                </a:cubicBezTo>
                <a:cubicBezTo>
                  <a:pt x="533802" y="514512"/>
                  <a:pt x="537375" y="523582"/>
                  <a:pt x="541223" y="532377"/>
                </a:cubicBezTo>
                <a:cubicBezTo>
                  <a:pt x="558538" y="573052"/>
                  <a:pt x="586296" y="604384"/>
                  <a:pt x="623949" y="626645"/>
                </a:cubicBezTo>
                <a:cubicBezTo>
                  <a:pt x="678916" y="659076"/>
                  <a:pt x="729210" y="641212"/>
                  <a:pt x="752572" y="582122"/>
                </a:cubicBezTo>
                <a:cubicBezTo>
                  <a:pt x="772909" y="531277"/>
                  <a:pt x="763840" y="485655"/>
                  <a:pt x="726737" y="446353"/>
                </a:cubicBezTo>
                <a:cubicBezTo>
                  <a:pt x="681114" y="397982"/>
                  <a:pt x="622299" y="374621"/>
                  <a:pt x="557988" y="365002"/>
                </a:cubicBezTo>
                <a:cubicBezTo>
                  <a:pt x="494776" y="355658"/>
                  <a:pt x="432113" y="364727"/>
                  <a:pt x="369451" y="374072"/>
                </a:cubicBezTo>
                <a:cubicBezTo>
                  <a:pt x="327951" y="380393"/>
                  <a:pt x="286176" y="386714"/>
                  <a:pt x="244126" y="390562"/>
                </a:cubicBezTo>
                <a:cubicBezTo>
                  <a:pt x="182288" y="395783"/>
                  <a:pt x="123198" y="387813"/>
                  <a:pt x="75377" y="342190"/>
                </a:cubicBezTo>
                <a:cubicBezTo>
                  <a:pt x="45145" y="312783"/>
                  <a:pt x="25906" y="276780"/>
                  <a:pt x="14363" y="236379"/>
                </a:cubicBezTo>
                <a:cubicBezTo>
                  <a:pt x="-5700" y="167120"/>
                  <a:pt x="-4875" y="98137"/>
                  <a:pt x="17661" y="29703"/>
                </a:cubicBezTo>
                <a:cubicBezTo>
                  <a:pt x="19585" y="24206"/>
                  <a:pt x="21784" y="18709"/>
                  <a:pt x="24257" y="12938"/>
                </a:cubicBezTo>
                <a:cubicBezTo>
                  <a:pt x="122923" y="67355"/>
                  <a:pt x="226261" y="59934"/>
                  <a:pt x="330149" y="39322"/>
                </a:cubicBezTo>
                <a:cubicBezTo>
                  <a:pt x="382643" y="28878"/>
                  <a:pt x="434312" y="14587"/>
                  <a:pt x="487080" y="5517"/>
                </a:cubicBezTo>
                <a:cubicBezTo>
                  <a:pt x="587121" y="-11798"/>
                  <a:pt x="677816" y="11838"/>
                  <a:pt x="758343" y="73676"/>
                </a:cubicBezTo>
                <a:cubicBezTo>
                  <a:pt x="850413" y="144309"/>
                  <a:pt x="907854" y="238303"/>
                  <a:pt x="938910" y="348787"/>
                </a:cubicBezTo>
                <a:cubicBezTo>
                  <a:pt x="977387" y="485655"/>
                  <a:pt x="978212" y="622798"/>
                  <a:pt x="937536" y="759116"/>
                </a:cubicBezTo>
                <a:cubicBezTo>
                  <a:pt x="929566" y="785500"/>
                  <a:pt x="916923" y="811060"/>
                  <a:pt x="904281" y="835795"/>
                </a:cubicBezTo>
                <a:cubicBezTo>
                  <a:pt x="885867" y="872073"/>
                  <a:pt x="854261" y="891862"/>
                  <a:pt x="814959" y="899832"/>
                </a:cubicBezTo>
                <a:cubicBezTo>
                  <a:pt x="811112" y="900656"/>
                  <a:pt x="807264" y="902031"/>
                  <a:pt x="803416" y="903405"/>
                </a:cubicBezTo>
                <a:cubicBezTo>
                  <a:pt x="794621" y="903405"/>
                  <a:pt x="785277" y="903405"/>
                  <a:pt x="776207" y="903405"/>
                </a:cubicBezTo>
                <a:close/>
              </a:path>
            </a:pathLst>
          </a:custGeom>
          <a:solidFill>
            <a:schemeClr val="accent2"/>
          </a:solidFill>
          <a:ln w="27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873">
            <a:extLst>
              <a:ext uri="{FF2B5EF4-FFF2-40B4-BE49-F238E27FC236}">
                <a16:creationId xmlns:a16="http://schemas.microsoft.com/office/drawing/2014/main" id="{D477A1AE-3850-B244-0638-76DDAEDF666C}"/>
              </a:ext>
            </a:extLst>
          </p:cNvPr>
          <p:cNvSpPr/>
          <p:nvPr/>
        </p:nvSpPr>
        <p:spPr>
          <a:xfrm>
            <a:off x="6372133" y="3911884"/>
            <a:ext cx="1822614" cy="1697637"/>
          </a:xfrm>
          <a:custGeom>
            <a:avLst/>
            <a:gdLst>
              <a:gd name="connsiteX0" fmla="*/ 434658 w 961924"/>
              <a:gd name="connsiteY0" fmla="*/ 502907 h 895963"/>
              <a:gd name="connsiteX1" fmla="*/ 429986 w 961924"/>
              <a:gd name="connsiteY1" fmla="*/ 577112 h 895963"/>
              <a:gd name="connsiteX2" fmla="*/ 182084 w 961924"/>
              <a:gd name="connsiteY2" fmla="*/ 726348 h 895963"/>
              <a:gd name="connsiteX3" fmla="*/ 116398 w 961924"/>
              <a:gd name="connsiteY3" fmla="*/ 704361 h 895963"/>
              <a:gd name="connsiteX4" fmla="*/ 79296 w 961924"/>
              <a:gd name="connsiteY4" fmla="*/ 684573 h 895963"/>
              <a:gd name="connsiteX5" fmla="*/ 89190 w 961924"/>
              <a:gd name="connsiteY5" fmla="*/ 822540 h 895963"/>
              <a:gd name="connsiteX6" fmla="*/ 208193 w 961924"/>
              <a:gd name="connsiteY6" fmla="*/ 892623 h 895963"/>
              <a:gd name="connsiteX7" fmla="*/ 43567 w 961924"/>
              <a:gd name="connsiteY7" fmla="*/ 815670 h 895963"/>
              <a:gd name="connsiteX8" fmla="*/ 3716 w 961924"/>
              <a:gd name="connsiteY8" fmla="*/ 642523 h 895963"/>
              <a:gd name="connsiteX9" fmla="*/ 51812 w 961924"/>
              <a:gd name="connsiteY9" fmla="*/ 279740 h 895963"/>
              <a:gd name="connsiteX10" fmla="*/ 232654 w 961924"/>
              <a:gd name="connsiteY10" fmla="*/ 54375 h 895963"/>
              <a:gd name="connsiteX11" fmla="*/ 356879 w 961924"/>
              <a:gd name="connsiteY11" fmla="*/ 9577 h 895963"/>
              <a:gd name="connsiteX12" fmla="*/ 533049 w 961924"/>
              <a:gd name="connsiteY12" fmla="*/ 13974 h 895963"/>
              <a:gd name="connsiteX13" fmla="*/ 694652 w 961924"/>
              <a:gd name="connsiteY13" fmla="*/ 51352 h 895963"/>
              <a:gd name="connsiteX14" fmla="*/ 934034 w 961924"/>
              <a:gd name="connsiteY14" fmla="*/ 15348 h 895963"/>
              <a:gd name="connsiteX15" fmla="*/ 942279 w 961924"/>
              <a:gd name="connsiteY15" fmla="*/ 12050 h 895963"/>
              <a:gd name="connsiteX16" fmla="*/ 956846 w 961924"/>
              <a:gd name="connsiteY16" fmla="*/ 90653 h 895963"/>
              <a:gd name="connsiteX17" fmla="*/ 948051 w 961924"/>
              <a:gd name="connsiteY17" fmla="*/ 244012 h 895963"/>
              <a:gd name="connsiteX18" fmla="*/ 739726 w 961924"/>
              <a:gd name="connsiteY18" fmla="*/ 395996 h 895963"/>
              <a:gd name="connsiteX19" fmla="*/ 564106 w 961924"/>
              <a:gd name="connsiteY19" fmla="*/ 376757 h 895963"/>
              <a:gd name="connsiteX20" fmla="*/ 407174 w 961924"/>
              <a:gd name="connsiteY20" fmla="*/ 364939 h 895963"/>
              <a:gd name="connsiteX21" fmla="*/ 250793 w 961924"/>
              <a:gd name="connsiteY21" fmla="*/ 431999 h 895963"/>
              <a:gd name="connsiteX22" fmla="*/ 220836 w 961924"/>
              <a:gd name="connsiteY22" fmla="*/ 598824 h 895963"/>
              <a:gd name="connsiteX23" fmla="*/ 323075 w 961924"/>
              <a:gd name="connsiteY23" fmla="*/ 634828 h 895963"/>
              <a:gd name="connsiteX24" fmla="*/ 428612 w 961924"/>
              <a:gd name="connsiteY24" fmla="*/ 519397 h 895963"/>
              <a:gd name="connsiteX25" fmla="*/ 434658 w 961924"/>
              <a:gd name="connsiteY25" fmla="*/ 502907 h 89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961924" h="895963">
                <a:moveTo>
                  <a:pt x="434658" y="502907"/>
                </a:moveTo>
                <a:cubicBezTo>
                  <a:pt x="443453" y="530115"/>
                  <a:pt x="439055" y="553751"/>
                  <a:pt x="429986" y="577112"/>
                </a:cubicBezTo>
                <a:cubicBezTo>
                  <a:pt x="393707" y="669457"/>
                  <a:pt x="280475" y="738716"/>
                  <a:pt x="182084" y="726348"/>
                </a:cubicBezTo>
                <a:cubicBezTo>
                  <a:pt x="159548" y="723600"/>
                  <a:pt x="137836" y="712881"/>
                  <a:pt x="116398" y="704361"/>
                </a:cubicBezTo>
                <a:cubicBezTo>
                  <a:pt x="103756" y="699414"/>
                  <a:pt x="92488" y="691719"/>
                  <a:pt x="79296" y="684573"/>
                </a:cubicBezTo>
                <a:cubicBezTo>
                  <a:pt x="56209" y="734043"/>
                  <a:pt x="65279" y="778842"/>
                  <a:pt x="89190" y="822540"/>
                </a:cubicBezTo>
                <a:cubicBezTo>
                  <a:pt x="114200" y="868163"/>
                  <a:pt x="156249" y="886027"/>
                  <a:pt x="208193" y="892623"/>
                </a:cubicBezTo>
                <a:cubicBezTo>
                  <a:pt x="145256" y="913236"/>
                  <a:pt x="68852" y="876408"/>
                  <a:pt x="43567" y="815670"/>
                </a:cubicBezTo>
                <a:cubicBezTo>
                  <a:pt x="20481" y="760153"/>
                  <a:pt x="8938" y="701888"/>
                  <a:pt x="3716" y="642523"/>
                </a:cubicBezTo>
                <a:cubicBezTo>
                  <a:pt x="-7278" y="518023"/>
                  <a:pt x="5365" y="396545"/>
                  <a:pt x="51812" y="279740"/>
                </a:cubicBezTo>
                <a:cubicBezTo>
                  <a:pt x="88915" y="186296"/>
                  <a:pt x="146355" y="109067"/>
                  <a:pt x="232654" y="54375"/>
                </a:cubicBezTo>
                <a:cubicBezTo>
                  <a:pt x="271131" y="30190"/>
                  <a:pt x="313730" y="20570"/>
                  <a:pt x="356879" y="9577"/>
                </a:cubicBezTo>
                <a:cubicBezTo>
                  <a:pt x="416794" y="-5814"/>
                  <a:pt x="474509" y="-1417"/>
                  <a:pt x="533049" y="13974"/>
                </a:cubicBezTo>
                <a:cubicBezTo>
                  <a:pt x="586642" y="27716"/>
                  <a:pt x="640235" y="41733"/>
                  <a:pt x="694652" y="51352"/>
                </a:cubicBezTo>
                <a:cubicBezTo>
                  <a:pt x="777928" y="65918"/>
                  <a:pt x="859004" y="58772"/>
                  <a:pt x="934034" y="15348"/>
                </a:cubicBezTo>
                <a:cubicBezTo>
                  <a:pt x="935958" y="14249"/>
                  <a:pt x="938157" y="13699"/>
                  <a:pt x="942279" y="12050"/>
                </a:cubicBezTo>
                <a:cubicBezTo>
                  <a:pt x="947226" y="38709"/>
                  <a:pt x="952448" y="64819"/>
                  <a:pt x="956846" y="90653"/>
                </a:cubicBezTo>
                <a:cubicBezTo>
                  <a:pt x="965640" y="142322"/>
                  <a:pt x="964541" y="193442"/>
                  <a:pt x="948051" y="244012"/>
                </a:cubicBezTo>
                <a:cubicBezTo>
                  <a:pt x="915345" y="343227"/>
                  <a:pt x="844163" y="398194"/>
                  <a:pt x="739726" y="395996"/>
                </a:cubicBezTo>
                <a:cubicBezTo>
                  <a:pt x="680911" y="394621"/>
                  <a:pt x="622371" y="384727"/>
                  <a:pt x="564106" y="376757"/>
                </a:cubicBezTo>
                <a:cubicBezTo>
                  <a:pt x="511887" y="369611"/>
                  <a:pt x="459943" y="359168"/>
                  <a:pt x="407174" y="364939"/>
                </a:cubicBezTo>
                <a:cubicBezTo>
                  <a:pt x="348634" y="371260"/>
                  <a:pt x="295041" y="391598"/>
                  <a:pt x="250793" y="431999"/>
                </a:cubicBezTo>
                <a:cubicBezTo>
                  <a:pt x="199399" y="478996"/>
                  <a:pt x="188955" y="540009"/>
                  <a:pt x="220836" y="598824"/>
                </a:cubicBezTo>
                <a:cubicBezTo>
                  <a:pt x="243098" y="639775"/>
                  <a:pt x="280200" y="653517"/>
                  <a:pt x="323075" y="634828"/>
                </a:cubicBezTo>
                <a:cubicBezTo>
                  <a:pt x="375019" y="612016"/>
                  <a:pt x="407449" y="570791"/>
                  <a:pt x="428612" y="519397"/>
                </a:cubicBezTo>
                <a:cubicBezTo>
                  <a:pt x="430261" y="514175"/>
                  <a:pt x="431910" y="509503"/>
                  <a:pt x="434658" y="502907"/>
                </a:cubicBezTo>
                <a:close/>
              </a:path>
            </a:pathLst>
          </a:custGeom>
          <a:solidFill>
            <a:schemeClr val="accent1"/>
          </a:solidFill>
          <a:ln w="27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E36A710-C34C-5F21-56CB-1AD92C42339F}"/>
              </a:ext>
            </a:extLst>
          </p:cNvPr>
          <p:cNvSpPr/>
          <p:nvPr/>
        </p:nvSpPr>
        <p:spPr>
          <a:xfrm>
            <a:off x="10822121" y="4586150"/>
            <a:ext cx="547019" cy="5470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A8A311-5143-0EBF-91DC-6B587D87D37C}"/>
              </a:ext>
            </a:extLst>
          </p:cNvPr>
          <p:cNvSpPr txBox="1"/>
          <p:nvPr/>
        </p:nvSpPr>
        <p:spPr>
          <a:xfrm>
            <a:off x="7695898" y="5001448"/>
            <a:ext cx="341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&lt; 0.05 → Statistically Significant 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≥ 0.05 → Not Significant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 not crossing 1 → Statistically Significant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 crossing 1 → Not Significant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8DCE8B-D464-CD26-5C66-53D6EE855B70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7390276" y="4891336"/>
            <a:ext cx="3431845" cy="3492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arallelogram 30">
            <a:extLst>
              <a:ext uri="{FF2B5EF4-FFF2-40B4-BE49-F238E27FC236}">
                <a16:creationId xmlns:a16="http://schemas.microsoft.com/office/drawing/2014/main" id="{37E119AB-E670-B55E-A4A0-AD9B65957CBA}"/>
              </a:ext>
            </a:extLst>
          </p:cNvPr>
          <p:cNvSpPr/>
          <p:nvPr/>
        </p:nvSpPr>
        <p:spPr>
          <a:xfrm flipH="1">
            <a:off x="10969352" y="4717459"/>
            <a:ext cx="276735" cy="27742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FEC61B-7255-9A24-D346-B1BCD7EFAAAB}"/>
              </a:ext>
            </a:extLst>
          </p:cNvPr>
          <p:cNvSpPr/>
          <p:nvPr/>
        </p:nvSpPr>
        <p:spPr>
          <a:xfrm>
            <a:off x="10794902" y="2734708"/>
            <a:ext cx="547019" cy="5470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681C15-4D05-84CF-260C-DEEF9EEAAE5C}"/>
              </a:ext>
            </a:extLst>
          </p:cNvPr>
          <p:cNvSpPr txBox="1"/>
          <p:nvPr/>
        </p:nvSpPr>
        <p:spPr>
          <a:xfrm>
            <a:off x="8326172" y="3348168"/>
            <a:ext cx="3137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&gt; 1 → Risk Factor (increases odds) 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&lt; 1 → Protective Factor (decreases odds)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= 1 → No Effect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F715CC-0443-7DA8-B0D1-73FE7DA95A6A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8298953" y="3043386"/>
            <a:ext cx="2495949" cy="9985"/>
          </a:xfrm>
          <a:prstGeom prst="line">
            <a:avLst/>
          </a:prstGeom>
          <a:ln>
            <a:solidFill>
              <a:schemeClr val="accent3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B37C4F1-E637-302E-DB77-9A2172D50008}"/>
              </a:ext>
            </a:extLst>
          </p:cNvPr>
          <p:cNvSpPr txBox="1"/>
          <p:nvPr/>
        </p:nvSpPr>
        <p:spPr>
          <a:xfrm flipH="1">
            <a:off x="785143" y="2139106"/>
            <a:ext cx="2718426" cy="1750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Method:</a:t>
            </a:r>
            <a:r>
              <a:rPr lang="en-US" sz="120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Univariate Binary Logistic Regression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Key Metrics:</a:t>
            </a:r>
            <a:r>
              <a:rPr lang="en-US" sz="120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Odds Ratio (OR), 95% CI, p-value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Significance Level:</a:t>
            </a:r>
            <a:r>
              <a:rPr lang="en-US" sz="120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p &lt; 0.05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Software:</a:t>
            </a:r>
            <a:r>
              <a:rPr lang="en-US" sz="1200" dirty="0">
                <a:solidFill>
                  <a:srgbClr val="44372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R Statistical Software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D66A2F5-106E-FEF6-CE12-A4D407CB81E6}"/>
              </a:ext>
            </a:extLst>
          </p:cNvPr>
          <p:cNvGrpSpPr/>
          <p:nvPr/>
        </p:nvGrpSpPr>
        <p:grpSpPr>
          <a:xfrm>
            <a:off x="879450" y="1576414"/>
            <a:ext cx="2380802" cy="547019"/>
            <a:chOff x="755880" y="1774126"/>
            <a:chExt cx="2380802" cy="547019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5313FE6-620B-BFC9-D6D6-9C16B301FEE1}"/>
                </a:ext>
              </a:extLst>
            </p:cNvPr>
            <p:cNvSpPr/>
            <p:nvPr/>
          </p:nvSpPr>
          <p:spPr>
            <a:xfrm flipH="1">
              <a:off x="755880" y="1774126"/>
              <a:ext cx="547019" cy="54701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CE47306-6C87-A78C-59C3-7325AC7378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2899" y="2082804"/>
              <a:ext cx="1833783" cy="0"/>
            </a:xfrm>
            <a:prstGeom prst="line">
              <a:avLst/>
            </a:prstGeom>
            <a:ln>
              <a:solidFill>
                <a:schemeClr val="accent4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3C167641-357C-138E-F32F-476A4EBFA16A}"/>
              </a:ext>
            </a:extLst>
          </p:cNvPr>
          <p:cNvSpPr/>
          <p:nvPr/>
        </p:nvSpPr>
        <p:spPr>
          <a:xfrm flipH="1">
            <a:off x="1070001" y="3858985"/>
            <a:ext cx="547019" cy="5470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F93A89-4191-0EAA-AFA6-B1FA9766C7B5}"/>
              </a:ext>
            </a:extLst>
          </p:cNvPr>
          <p:cNvSpPr txBox="1"/>
          <p:nvPr/>
        </p:nvSpPr>
        <p:spPr>
          <a:xfrm flipH="1">
            <a:off x="1677556" y="4322960"/>
            <a:ext cx="24238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</a:t>
            </a:r>
            <a:r>
              <a:rPr lang="en-US" sz="1200" b="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/(1−</a:t>
            </a:r>
            <a:r>
              <a:rPr lang="en-US" sz="1200" b="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))=</a:t>
            </a:r>
            <a:r>
              <a:rPr lang="el-GR" sz="1200" b="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0​+</a:t>
            </a:r>
            <a:r>
              <a:rPr lang="el-GR" sz="1200" b="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1​</a:t>
            </a:r>
            <a:r>
              <a:rPr lang="en-US" sz="1200" b="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algn="l"/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endParaRPr lang="en-US" sz="12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= probability of outcome =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predictor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l-GR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β₀ = </a:t>
            </a:r>
            <a:r>
              <a:rPr lang="en-US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intercept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l-GR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β₁ = </a:t>
            </a:r>
            <a:r>
              <a:rPr lang="en-US" sz="1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coefficient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1034CA7-C076-26B7-900D-4CBDC301D29B}"/>
              </a:ext>
            </a:extLst>
          </p:cNvPr>
          <p:cNvCxnSpPr>
            <a:cxnSpLocks/>
            <a:endCxn id="41" idx="2"/>
          </p:cNvCxnSpPr>
          <p:nvPr/>
        </p:nvCxnSpPr>
        <p:spPr>
          <a:xfrm flipH="1" flipV="1">
            <a:off x="1617020" y="4167663"/>
            <a:ext cx="2452542" cy="16044"/>
          </a:xfrm>
          <a:prstGeom prst="line">
            <a:avLst/>
          </a:prstGeom>
          <a:ln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: Shape 898">
            <a:extLst>
              <a:ext uri="{FF2B5EF4-FFF2-40B4-BE49-F238E27FC236}">
                <a16:creationId xmlns:a16="http://schemas.microsoft.com/office/drawing/2014/main" id="{FA4A30BF-BA84-616B-7885-980DA6776591}"/>
              </a:ext>
            </a:extLst>
          </p:cNvPr>
          <p:cNvSpPr/>
          <p:nvPr/>
        </p:nvSpPr>
        <p:spPr>
          <a:xfrm>
            <a:off x="5463137" y="2181774"/>
            <a:ext cx="1512862" cy="2787569"/>
          </a:xfrm>
          <a:custGeom>
            <a:avLst/>
            <a:gdLst>
              <a:gd name="connsiteX0" fmla="*/ 760439 w 1512862"/>
              <a:gd name="connsiteY0" fmla="*/ 1489715 h 2787569"/>
              <a:gd name="connsiteX1" fmla="*/ 775441 w 1512862"/>
              <a:gd name="connsiteY1" fmla="*/ 1513412 h 2787569"/>
              <a:gd name="connsiteX2" fmla="*/ 786606 w 1512862"/>
              <a:gd name="connsiteY2" fmla="*/ 1599971 h 2787569"/>
              <a:gd name="connsiteX3" fmla="*/ 776040 w 1512862"/>
              <a:gd name="connsiteY3" fmla="*/ 1754913 h 2787569"/>
              <a:gd name="connsiteX4" fmla="*/ 771853 w 1512862"/>
              <a:gd name="connsiteY4" fmla="*/ 1781314 h 2787569"/>
              <a:gd name="connsiteX5" fmla="*/ 773846 w 1512862"/>
              <a:gd name="connsiteY5" fmla="*/ 1847963 h 2787569"/>
              <a:gd name="connsiteX6" fmla="*/ 792188 w 1512862"/>
              <a:gd name="connsiteY6" fmla="*/ 2058736 h 2787569"/>
              <a:gd name="connsiteX7" fmla="*/ 783815 w 1512862"/>
              <a:gd name="connsiteY7" fmla="*/ 2399782 h 2787569"/>
              <a:gd name="connsiteX8" fmla="*/ 768663 w 1512862"/>
              <a:gd name="connsiteY8" fmla="*/ 2713562 h 2787569"/>
              <a:gd name="connsiteX9" fmla="*/ 760688 w 1512862"/>
              <a:gd name="connsiteY9" fmla="*/ 2787569 h 2787569"/>
              <a:gd name="connsiteX10" fmla="*/ 756103 w 1512862"/>
              <a:gd name="connsiteY10" fmla="*/ 2785405 h 2787569"/>
              <a:gd name="connsiteX11" fmla="*/ 741949 w 1512862"/>
              <a:gd name="connsiteY11" fmla="*/ 2591512 h 2787569"/>
              <a:gd name="connsiteX12" fmla="*/ 721614 w 1512862"/>
              <a:gd name="connsiteY12" fmla="*/ 2090331 h 2787569"/>
              <a:gd name="connsiteX13" fmla="*/ 734772 w 1512862"/>
              <a:gd name="connsiteY13" fmla="*/ 1876963 h 2787569"/>
              <a:gd name="connsiteX14" fmla="*/ 740154 w 1512862"/>
              <a:gd name="connsiteY14" fmla="*/ 1846666 h 2787569"/>
              <a:gd name="connsiteX15" fmla="*/ 740154 w 1512862"/>
              <a:gd name="connsiteY15" fmla="*/ 1771791 h 2787569"/>
              <a:gd name="connsiteX16" fmla="*/ 727196 w 1512862"/>
              <a:gd name="connsiteY16" fmla="*/ 1572271 h 2787569"/>
              <a:gd name="connsiteX17" fmla="*/ 745138 w 1512862"/>
              <a:gd name="connsiteY17" fmla="*/ 1496532 h 2787569"/>
              <a:gd name="connsiteX18" fmla="*/ 760439 w 1512862"/>
              <a:gd name="connsiteY18" fmla="*/ 1489715 h 2787569"/>
              <a:gd name="connsiteX19" fmla="*/ 753650 w 1512862"/>
              <a:gd name="connsiteY19" fmla="*/ 1360201 h 2787569"/>
              <a:gd name="connsiteX20" fmla="*/ 782251 w 1512862"/>
              <a:gd name="connsiteY20" fmla="*/ 1415167 h 2787569"/>
              <a:gd name="connsiteX21" fmla="*/ 770020 w 1512862"/>
              <a:gd name="connsiteY21" fmla="*/ 1463208 h 2787569"/>
              <a:gd name="connsiteX22" fmla="*/ 757413 w 1512862"/>
              <a:gd name="connsiteY22" fmla="*/ 1467536 h 2787569"/>
              <a:gd name="connsiteX23" fmla="*/ 744807 w 1512862"/>
              <a:gd name="connsiteY23" fmla="*/ 1463642 h 2787569"/>
              <a:gd name="connsiteX24" fmla="*/ 731071 w 1512862"/>
              <a:gd name="connsiteY24" fmla="*/ 1416899 h 2787569"/>
              <a:gd name="connsiteX25" fmla="*/ 747440 w 1512862"/>
              <a:gd name="connsiteY25" fmla="*/ 1363664 h 2787569"/>
              <a:gd name="connsiteX26" fmla="*/ 753650 w 1512862"/>
              <a:gd name="connsiteY26" fmla="*/ 1360201 h 2787569"/>
              <a:gd name="connsiteX27" fmla="*/ 1442051 w 1512862"/>
              <a:gd name="connsiteY27" fmla="*/ 1584 h 2787569"/>
              <a:gd name="connsiteX28" fmla="*/ 1512862 w 1512862"/>
              <a:gd name="connsiteY28" fmla="*/ 27768 h 2787569"/>
              <a:gd name="connsiteX29" fmla="*/ 1190634 w 1512862"/>
              <a:gd name="connsiteY29" fmla="*/ 228475 h 2787569"/>
              <a:gd name="connsiteX30" fmla="*/ 1047110 w 1512862"/>
              <a:gd name="connsiteY30" fmla="*/ 488785 h 2787569"/>
              <a:gd name="connsiteX31" fmla="*/ 843962 w 1512862"/>
              <a:gd name="connsiteY31" fmla="*/ 1118770 h 2787569"/>
              <a:gd name="connsiteX32" fmla="*/ 799863 w 1512862"/>
              <a:gd name="connsiteY32" fmla="*/ 1311207 h 2787569"/>
              <a:gd name="connsiteX33" fmla="*/ 784799 w 1512862"/>
              <a:gd name="connsiteY33" fmla="*/ 1309712 h 2787569"/>
              <a:gd name="connsiteX34" fmla="*/ 787000 w 1512862"/>
              <a:gd name="connsiteY34" fmla="*/ 1295132 h 2787569"/>
              <a:gd name="connsiteX35" fmla="*/ 1036832 w 1512862"/>
              <a:gd name="connsiteY35" fmla="*/ 437113 h 2787569"/>
              <a:gd name="connsiteX36" fmla="*/ 1270940 w 1512862"/>
              <a:gd name="connsiteY36" fmla="*/ 84710 h 2787569"/>
              <a:gd name="connsiteX37" fmla="*/ 1442051 w 1512862"/>
              <a:gd name="connsiteY37" fmla="*/ 1584 h 2787569"/>
              <a:gd name="connsiteX38" fmla="*/ 70811 w 1512862"/>
              <a:gd name="connsiteY38" fmla="*/ 1584 h 2787569"/>
              <a:gd name="connsiteX39" fmla="*/ 241922 w 1512862"/>
              <a:gd name="connsiteY39" fmla="*/ 84710 h 2787569"/>
              <a:gd name="connsiteX40" fmla="*/ 476030 w 1512862"/>
              <a:gd name="connsiteY40" fmla="*/ 437113 h 2787569"/>
              <a:gd name="connsiteX41" fmla="*/ 725862 w 1512862"/>
              <a:gd name="connsiteY41" fmla="*/ 1295132 h 2787569"/>
              <a:gd name="connsiteX42" fmla="*/ 728064 w 1512862"/>
              <a:gd name="connsiteY42" fmla="*/ 1309712 h 2787569"/>
              <a:gd name="connsiteX43" fmla="*/ 712999 w 1512862"/>
              <a:gd name="connsiteY43" fmla="*/ 1311207 h 2787569"/>
              <a:gd name="connsiteX44" fmla="*/ 668900 w 1512862"/>
              <a:gd name="connsiteY44" fmla="*/ 1118770 h 2787569"/>
              <a:gd name="connsiteX45" fmla="*/ 465752 w 1512862"/>
              <a:gd name="connsiteY45" fmla="*/ 488785 h 2787569"/>
              <a:gd name="connsiteX46" fmla="*/ 322228 w 1512862"/>
              <a:gd name="connsiteY46" fmla="*/ 228475 h 2787569"/>
              <a:gd name="connsiteX47" fmla="*/ 0 w 1512862"/>
              <a:gd name="connsiteY47" fmla="*/ 27768 h 2787569"/>
              <a:gd name="connsiteX48" fmla="*/ 70811 w 1512862"/>
              <a:gd name="connsiteY48" fmla="*/ 1584 h 2787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512862" h="2787569">
                <a:moveTo>
                  <a:pt x="760439" y="1489715"/>
                </a:moveTo>
                <a:cubicBezTo>
                  <a:pt x="766769" y="1493070"/>
                  <a:pt x="773049" y="1501510"/>
                  <a:pt x="775441" y="1513412"/>
                </a:cubicBezTo>
                <a:cubicBezTo>
                  <a:pt x="780825" y="1540677"/>
                  <a:pt x="785011" y="1570541"/>
                  <a:pt x="786606" y="1599971"/>
                </a:cubicBezTo>
                <a:cubicBezTo>
                  <a:pt x="789397" y="1653204"/>
                  <a:pt x="783615" y="1704708"/>
                  <a:pt x="776040" y="1754913"/>
                </a:cubicBezTo>
                <a:cubicBezTo>
                  <a:pt x="774644" y="1764001"/>
                  <a:pt x="773647" y="1773090"/>
                  <a:pt x="771853" y="1781314"/>
                </a:cubicBezTo>
                <a:cubicBezTo>
                  <a:pt x="766470" y="1804684"/>
                  <a:pt x="768464" y="1825026"/>
                  <a:pt x="773846" y="1847963"/>
                </a:cubicBezTo>
                <a:cubicBezTo>
                  <a:pt x="789198" y="1913750"/>
                  <a:pt x="792786" y="1986460"/>
                  <a:pt x="792188" y="2058736"/>
                </a:cubicBezTo>
                <a:cubicBezTo>
                  <a:pt x="791191" y="2172563"/>
                  <a:pt x="787802" y="2286389"/>
                  <a:pt x="783815" y="2399782"/>
                </a:cubicBezTo>
                <a:cubicBezTo>
                  <a:pt x="780027" y="2504519"/>
                  <a:pt x="774245" y="2609256"/>
                  <a:pt x="768663" y="2713562"/>
                </a:cubicBezTo>
                <a:cubicBezTo>
                  <a:pt x="767268" y="2738663"/>
                  <a:pt x="763480" y="2762900"/>
                  <a:pt x="760688" y="2787569"/>
                </a:cubicBezTo>
                <a:cubicBezTo>
                  <a:pt x="759094" y="2786704"/>
                  <a:pt x="757499" y="2785838"/>
                  <a:pt x="756103" y="2785405"/>
                </a:cubicBezTo>
                <a:cubicBezTo>
                  <a:pt x="751318" y="2720919"/>
                  <a:pt x="746334" y="2655998"/>
                  <a:pt x="741949" y="2591512"/>
                </a:cubicBezTo>
                <a:cubicBezTo>
                  <a:pt x="730385" y="2425317"/>
                  <a:pt x="720616" y="2258689"/>
                  <a:pt x="721614" y="2090331"/>
                </a:cubicBezTo>
                <a:cubicBezTo>
                  <a:pt x="722012" y="2018054"/>
                  <a:pt x="724604" y="1946209"/>
                  <a:pt x="734772" y="1876963"/>
                </a:cubicBezTo>
                <a:cubicBezTo>
                  <a:pt x="736366" y="1866574"/>
                  <a:pt x="737363" y="1855322"/>
                  <a:pt x="740154" y="1846666"/>
                </a:cubicBezTo>
                <a:cubicBezTo>
                  <a:pt x="748727" y="1821131"/>
                  <a:pt x="745935" y="1798625"/>
                  <a:pt x="740154" y="1771791"/>
                </a:cubicBezTo>
                <a:cubicBezTo>
                  <a:pt x="726398" y="1708602"/>
                  <a:pt x="719619" y="1641520"/>
                  <a:pt x="727196" y="1572271"/>
                </a:cubicBezTo>
                <a:cubicBezTo>
                  <a:pt x="730186" y="1545437"/>
                  <a:pt x="737762" y="1520336"/>
                  <a:pt x="745138" y="1496532"/>
                </a:cubicBezTo>
                <a:cubicBezTo>
                  <a:pt x="747730" y="1488092"/>
                  <a:pt x="754110" y="1486361"/>
                  <a:pt x="760439" y="1489715"/>
                </a:cubicBezTo>
                <a:close/>
                <a:moveTo>
                  <a:pt x="753650" y="1360201"/>
                </a:moveTo>
                <a:cubicBezTo>
                  <a:pt x="765880" y="1361932"/>
                  <a:pt x="779052" y="1387468"/>
                  <a:pt x="782251" y="1415167"/>
                </a:cubicBezTo>
                <a:cubicBezTo>
                  <a:pt x="785638" y="1445031"/>
                  <a:pt x="783003" y="1456284"/>
                  <a:pt x="770020" y="1463208"/>
                </a:cubicBezTo>
                <a:cubicBezTo>
                  <a:pt x="765692" y="1465805"/>
                  <a:pt x="761176" y="1466238"/>
                  <a:pt x="757413" y="1467536"/>
                </a:cubicBezTo>
                <a:cubicBezTo>
                  <a:pt x="752709" y="1466238"/>
                  <a:pt x="748758" y="1465372"/>
                  <a:pt x="744807" y="1463642"/>
                </a:cubicBezTo>
                <a:cubicBezTo>
                  <a:pt x="730506" y="1457149"/>
                  <a:pt x="728436" y="1450224"/>
                  <a:pt x="731071" y="1416899"/>
                </a:cubicBezTo>
                <a:cubicBezTo>
                  <a:pt x="732952" y="1393526"/>
                  <a:pt x="738973" y="1376648"/>
                  <a:pt x="747440" y="1363664"/>
                </a:cubicBezTo>
                <a:cubicBezTo>
                  <a:pt x="749134" y="1361067"/>
                  <a:pt x="751580" y="1359768"/>
                  <a:pt x="753650" y="1360201"/>
                </a:cubicBezTo>
                <a:close/>
                <a:moveTo>
                  <a:pt x="1442051" y="1584"/>
                </a:moveTo>
                <a:cubicBezTo>
                  <a:pt x="1469170" y="-1639"/>
                  <a:pt x="1495431" y="-2853"/>
                  <a:pt x="1512862" y="27768"/>
                </a:cubicBezTo>
                <a:cubicBezTo>
                  <a:pt x="1353829" y="56890"/>
                  <a:pt x="1281721" y="96247"/>
                  <a:pt x="1190634" y="228475"/>
                </a:cubicBezTo>
                <a:cubicBezTo>
                  <a:pt x="1134984" y="309724"/>
                  <a:pt x="1081042" y="396813"/>
                  <a:pt x="1047110" y="488785"/>
                </a:cubicBezTo>
                <a:cubicBezTo>
                  <a:pt x="972539" y="696161"/>
                  <a:pt x="909310" y="908191"/>
                  <a:pt x="843962" y="1118770"/>
                </a:cubicBezTo>
                <a:cubicBezTo>
                  <a:pt x="824403" y="1182182"/>
                  <a:pt x="812653" y="1247829"/>
                  <a:pt x="799863" y="1311207"/>
                </a:cubicBezTo>
                <a:lnTo>
                  <a:pt x="784799" y="1309712"/>
                </a:lnTo>
                <a:cubicBezTo>
                  <a:pt x="785805" y="1305211"/>
                  <a:pt x="785399" y="1299743"/>
                  <a:pt x="787000" y="1295132"/>
                </a:cubicBezTo>
                <a:cubicBezTo>
                  <a:pt x="846846" y="1002418"/>
                  <a:pt x="914614" y="712536"/>
                  <a:pt x="1036832" y="437113"/>
                </a:cubicBezTo>
                <a:cubicBezTo>
                  <a:pt x="1094998" y="306728"/>
                  <a:pt x="1164358" y="183491"/>
                  <a:pt x="1270940" y="84710"/>
                </a:cubicBezTo>
                <a:cubicBezTo>
                  <a:pt x="1319244" y="39948"/>
                  <a:pt x="1376728" y="11335"/>
                  <a:pt x="1442051" y="1584"/>
                </a:cubicBezTo>
                <a:close/>
                <a:moveTo>
                  <a:pt x="70811" y="1584"/>
                </a:moveTo>
                <a:cubicBezTo>
                  <a:pt x="136134" y="11335"/>
                  <a:pt x="193618" y="39948"/>
                  <a:pt x="241922" y="84710"/>
                </a:cubicBezTo>
                <a:cubicBezTo>
                  <a:pt x="348504" y="183491"/>
                  <a:pt x="417864" y="306728"/>
                  <a:pt x="476030" y="437113"/>
                </a:cubicBezTo>
                <a:cubicBezTo>
                  <a:pt x="598248" y="712536"/>
                  <a:pt x="666016" y="1002418"/>
                  <a:pt x="725862" y="1295132"/>
                </a:cubicBezTo>
                <a:cubicBezTo>
                  <a:pt x="727464" y="1299743"/>
                  <a:pt x="727057" y="1305211"/>
                  <a:pt x="728064" y="1309712"/>
                </a:cubicBezTo>
                <a:lnTo>
                  <a:pt x="712999" y="1311207"/>
                </a:lnTo>
                <a:cubicBezTo>
                  <a:pt x="700209" y="1247829"/>
                  <a:pt x="688459" y="1182182"/>
                  <a:pt x="668900" y="1118770"/>
                </a:cubicBezTo>
                <a:cubicBezTo>
                  <a:pt x="603552" y="908191"/>
                  <a:pt x="540323" y="696161"/>
                  <a:pt x="465752" y="488785"/>
                </a:cubicBezTo>
                <a:cubicBezTo>
                  <a:pt x="431820" y="396813"/>
                  <a:pt x="377878" y="309724"/>
                  <a:pt x="322228" y="228475"/>
                </a:cubicBezTo>
                <a:cubicBezTo>
                  <a:pt x="231141" y="96247"/>
                  <a:pt x="159033" y="56890"/>
                  <a:pt x="0" y="27768"/>
                </a:cubicBezTo>
                <a:cubicBezTo>
                  <a:pt x="17431" y="-2853"/>
                  <a:pt x="43692" y="-1639"/>
                  <a:pt x="70811" y="1584"/>
                </a:cubicBezTo>
                <a:close/>
              </a:path>
            </a:pathLst>
          </a:custGeom>
          <a:solidFill>
            <a:schemeClr val="accent6"/>
          </a:solidFill>
          <a:ln w="27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246AD6-40C9-0CA2-8215-976267F36A65}"/>
              </a:ext>
            </a:extLst>
          </p:cNvPr>
          <p:cNvSpPr txBox="1"/>
          <p:nvPr/>
        </p:nvSpPr>
        <p:spPr>
          <a:xfrm>
            <a:off x="4505257" y="2869043"/>
            <a:ext cx="1132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ko-KR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9A5FD4-F2A4-888E-AEDB-91A29D4716E9}"/>
              </a:ext>
            </a:extLst>
          </p:cNvPr>
          <p:cNvSpPr txBox="1"/>
          <p:nvPr/>
        </p:nvSpPr>
        <p:spPr>
          <a:xfrm>
            <a:off x="6538948" y="2734708"/>
            <a:ext cx="15715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Interpretation</a:t>
            </a:r>
            <a:endParaRPr lang="ko-KR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EA2E3D-DE17-3CD2-E2EB-5AAC1C472579}"/>
              </a:ext>
            </a:extLst>
          </p:cNvPr>
          <p:cNvSpPr txBox="1"/>
          <p:nvPr/>
        </p:nvSpPr>
        <p:spPr>
          <a:xfrm>
            <a:off x="4509816" y="4103006"/>
            <a:ext cx="113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endParaRPr lang="ko-KR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7BD4BA-7859-D36E-9D59-C2ABC6C09B07}"/>
              </a:ext>
            </a:extLst>
          </p:cNvPr>
          <p:cNvSpPr txBox="1"/>
          <p:nvPr/>
        </p:nvSpPr>
        <p:spPr>
          <a:xfrm>
            <a:off x="6713110" y="4007870"/>
            <a:ext cx="1464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Guide</a:t>
            </a:r>
            <a:endParaRPr lang="ko-KR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8FDF6BD-C8D6-6B23-25F6-4D0B26BE312C}"/>
              </a:ext>
            </a:extLst>
          </p:cNvPr>
          <p:cNvGrpSpPr/>
          <p:nvPr/>
        </p:nvGrpSpPr>
        <p:grpSpPr>
          <a:xfrm flipH="1">
            <a:off x="989526" y="1704664"/>
            <a:ext cx="316898" cy="312728"/>
            <a:chOff x="5734050" y="3076575"/>
            <a:chExt cx="723900" cy="714375"/>
          </a:xfrm>
          <a:solidFill>
            <a:schemeClr val="bg1"/>
          </a:solidFill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B603D24-CD84-89D3-1875-C98171C0FFB1}"/>
                </a:ext>
              </a:extLst>
            </p:cNvPr>
            <p:cNvSpPr/>
            <p:nvPr/>
          </p:nvSpPr>
          <p:spPr>
            <a:xfrm>
              <a:off x="6118955" y="3362325"/>
              <a:ext cx="110394" cy="77723"/>
            </a:xfrm>
            <a:custGeom>
              <a:avLst/>
              <a:gdLst>
                <a:gd name="connsiteX0" fmla="*/ 0 w 110394"/>
                <a:gd name="connsiteY0" fmla="*/ 0 h 77723"/>
                <a:gd name="connsiteX1" fmla="*/ 77724 w 110394"/>
                <a:gd name="connsiteY1" fmla="*/ 77724 h 77723"/>
                <a:gd name="connsiteX2" fmla="*/ 110395 w 110394"/>
                <a:gd name="connsiteY2" fmla="*/ 0 h 7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394" h="77723">
                  <a:moveTo>
                    <a:pt x="0" y="0"/>
                  </a:moveTo>
                  <a:lnTo>
                    <a:pt x="77724" y="77724"/>
                  </a:lnTo>
                  <a:cubicBezTo>
                    <a:pt x="96793" y="56068"/>
                    <a:pt x="108265" y="28776"/>
                    <a:pt x="11039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85062940-E98E-EF2E-F570-58EFFCD4EF97}"/>
                </a:ext>
              </a:extLst>
            </p:cNvPr>
            <p:cNvSpPr/>
            <p:nvPr/>
          </p:nvSpPr>
          <p:spPr>
            <a:xfrm>
              <a:off x="5962266" y="3219926"/>
              <a:ext cx="220982" cy="266391"/>
            </a:xfrm>
            <a:custGeom>
              <a:avLst/>
              <a:gdLst>
                <a:gd name="connsiteX0" fmla="*/ 124208 w 220982"/>
                <a:gd name="connsiteY0" fmla="*/ 136779 h 266391"/>
                <a:gd name="connsiteX1" fmla="*/ 124208 w 220982"/>
                <a:gd name="connsiteY1" fmla="*/ 0 h 266391"/>
                <a:gd name="connsiteX2" fmla="*/ 319 w 220982"/>
                <a:gd name="connsiteY2" fmla="*/ 142183 h 266391"/>
                <a:gd name="connsiteX3" fmla="*/ 142502 w 220982"/>
                <a:gd name="connsiteY3" fmla="*/ 266072 h 266391"/>
                <a:gd name="connsiteX4" fmla="*/ 220982 w 220982"/>
                <a:gd name="connsiteY4" fmla="*/ 233553 h 26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982" h="266391">
                  <a:moveTo>
                    <a:pt x="124208" y="136779"/>
                  </a:moveTo>
                  <a:lnTo>
                    <a:pt x="124208" y="0"/>
                  </a:lnTo>
                  <a:cubicBezTo>
                    <a:pt x="50734" y="5051"/>
                    <a:pt x="-4733" y="68709"/>
                    <a:pt x="319" y="142183"/>
                  </a:cubicBezTo>
                  <a:cubicBezTo>
                    <a:pt x="5371" y="215657"/>
                    <a:pt x="69028" y="271123"/>
                    <a:pt x="142502" y="266072"/>
                  </a:cubicBezTo>
                  <a:cubicBezTo>
                    <a:pt x="171508" y="264078"/>
                    <a:pt x="199066" y="252658"/>
                    <a:pt x="220982" y="2335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0A237C6-4850-95E1-6848-7969159FE5E7}"/>
                </a:ext>
              </a:extLst>
            </p:cNvPr>
            <p:cNvSpPr/>
            <p:nvPr/>
          </p:nvSpPr>
          <p:spPr>
            <a:xfrm>
              <a:off x="6105525" y="3219926"/>
              <a:ext cx="123825" cy="123348"/>
            </a:xfrm>
            <a:custGeom>
              <a:avLst/>
              <a:gdLst>
                <a:gd name="connsiteX0" fmla="*/ 0 w 123825"/>
                <a:gd name="connsiteY0" fmla="*/ 123349 h 123348"/>
                <a:gd name="connsiteX1" fmla="*/ 123825 w 123825"/>
                <a:gd name="connsiteY1" fmla="*/ 123349 h 123348"/>
                <a:gd name="connsiteX2" fmla="*/ 0 w 123825"/>
                <a:gd name="connsiteY2" fmla="*/ 0 h 123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3825" h="123348">
                  <a:moveTo>
                    <a:pt x="0" y="123349"/>
                  </a:moveTo>
                  <a:lnTo>
                    <a:pt x="123825" y="123349"/>
                  </a:lnTo>
                  <a:cubicBezTo>
                    <a:pt x="119003" y="57144"/>
                    <a:pt x="66223" y="4566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5D48848-7438-E646-6945-DCF348491DDB}"/>
                </a:ext>
              </a:extLst>
            </p:cNvPr>
            <p:cNvSpPr/>
            <p:nvPr/>
          </p:nvSpPr>
          <p:spPr>
            <a:xfrm>
              <a:off x="5734050" y="3076575"/>
              <a:ext cx="723900" cy="714375"/>
            </a:xfrm>
            <a:custGeom>
              <a:avLst/>
              <a:gdLst>
                <a:gd name="connsiteX0" fmla="*/ 628650 w 723900"/>
                <a:gd name="connsiteY0" fmla="*/ 104775 h 714375"/>
                <a:gd name="connsiteX1" fmla="*/ 628650 w 723900"/>
                <a:gd name="connsiteY1" fmla="*/ 447675 h 714375"/>
                <a:gd name="connsiteX2" fmla="*/ 95250 w 723900"/>
                <a:gd name="connsiteY2" fmla="*/ 447675 h 714375"/>
                <a:gd name="connsiteX3" fmla="*/ 95250 w 723900"/>
                <a:gd name="connsiteY3" fmla="*/ 104775 h 714375"/>
                <a:gd name="connsiteX4" fmla="*/ 704850 w 723900"/>
                <a:gd name="connsiteY4" fmla="*/ 466725 h 714375"/>
                <a:gd name="connsiteX5" fmla="*/ 685800 w 723900"/>
                <a:gd name="connsiteY5" fmla="*/ 466725 h 714375"/>
                <a:gd name="connsiteX6" fmla="*/ 685800 w 723900"/>
                <a:gd name="connsiteY6" fmla="*/ 76200 h 714375"/>
                <a:gd name="connsiteX7" fmla="*/ 704850 w 723900"/>
                <a:gd name="connsiteY7" fmla="*/ 76200 h 714375"/>
                <a:gd name="connsiteX8" fmla="*/ 723900 w 723900"/>
                <a:gd name="connsiteY8" fmla="*/ 57150 h 714375"/>
                <a:gd name="connsiteX9" fmla="*/ 704850 w 723900"/>
                <a:gd name="connsiteY9" fmla="*/ 38100 h 714375"/>
                <a:gd name="connsiteX10" fmla="*/ 381000 w 723900"/>
                <a:gd name="connsiteY10" fmla="*/ 38100 h 714375"/>
                <a:gd name="connsiteX11" fmla="*/ 381000 w 723900"/>
                <a:gd name="connsiteY11" fmla="*/ 19050 h 714375"/>
                <a:gd name="connsiteX12" fmla="*/ 361950 w 723900"/>
                <a:gd name="connsiteY12" fmla="*/ 0 h 714375"/>
                <a:gd name="connsiteX13" fmla="*/ 342900 w 723900"/>
                <a:gd name="connsiteY13" fmla="*/ 19050 h 714375"/>
                <a:gd name="connsiteX14" fmla="*/ 342900 w 723900"/>
                <a:gd name="connsiteY14" fmla="*/ 38100 h 714375"/>
                <a:gd name="connsiteX15" fmla="*/ 19050 w 723900"/>
                <a:gd name="connsiteY15" fmla="*/ 38100 h 714375"/>
                <a:gd name="connsiteX16" fmla="*/ 0 w 723900"/>
                <a:gd name="connsiteY16" fmla="*/ 57150 h 714375"/>
                <a:gd name="connsiteX17" fmla="*/ 19050 w 723900"/>
                <a:gd name="connsiteY17" fmla="*/ 76200 h 714375"/>
                <a:gd name="connsiteX18" fmla="*/ 38100 w 723900"/>
                <a:gd name="connsiteY18" fmla="*/ 76200 h 714375"/>
                <a:gd name="connsiteX19" fmla="*/ 38100 w 723900"/>
                <a:gd name="connsiteY19" fmla="*/ 466725 h 714375"/>
                <a:gd name="connsiteX20" fmla="*/ 19050 w 723900"/>
                <a:gd name="connsiteY20" fmla="*/ 466725 h 714375"/>
                <a:gd name="connsiteX21" fmla="*/ 0 w 723900"/>
                <a:gd name="connsiteY21" fmla="*/ 485775 h 714375"/>
                <a:gd name="connsiteX22" fmla="*/ 19050 w 723900"/>
                <a:gd name="connsiteY22" fmla="*/ 504825 h 714375"/>
                <a:gd name="connsiteX23" fmla="*/ 309944 w 723900"/>
                <a:gd name="connsiteY23" fmla="*/ 504825 h 714375"/>
                <a:gd name="connsiteX24" fmla="*/ 163259 w 723900"/>
                <a:gd name="connsiteY24" fmla="*/ 651510 h 714375"/>
                <a:gd name="connsiteX25" fmla="*/ 163401 w 723900"/>
                <a:gd name="connsiteY25" fmla="*/ 678609 h 714375"/>
                <a:gd name="connsiteX26" fmla="*/ 190500 w 723900"/>
                <a:gd name="connsiteY26" fmla="*/ 678466 h 714375"/>
                <a:gd name="connsiteX27" fmla="*/ 342900 w 723900"/>
                <a:gd name="connsiteY27" fmla="*/ 526066 h 714375"/>
                <a:gd name="connsiteX28" fmla="*/ 342900 w 723900"/>
                <a:gd name="connsiteY28" fmla="*/ 695325 h 714375"/>
                <a:gd name="connsiteX29" fmla="*/ 361950 w 723900"/>
                <a:gd name="connsiteY29" fmla="*/ 714375 h 714375"/>
                <a:gd name="connsiteX30" fmla="*/ 381000 w 723900"/>
                <a:gd name="connsiteY30" fmla="*/ 695325 h 714375"/>
                <a:gd name="connsiteX31" fmla="*/ 381000 w 723900"/>
                <a:gd name="connsiteY31" fmla="*/ 525780 h 714375"/>
                <a:gd name="connsiteX32" fmla="*/ 533400 w 723900"/>
                <a:gd name="connsiteY32" fmla="*/ 678180 h 714375"/>
                <a:gd name="connsiteX33" fmla="*/ 560356 w 723900"/>
                <a:gd name="connsiteY33" fmla="*/ 678180 h 714375"/>
                <a:gd name="connsiteX34" fmla="*/ 560356 w 723900"/>
                <a:gd name="connsiteY34" fmla="*/ 651224 h 714375"/>
                <a:gd name="connsiteX35" fmla="*/ 413957 w 723900"/>
                <a:gd name="connsiteY35" fmla="*/ 504825 h 714375"/>
                <a:gd name="connsiteX36" fmla="*/ 704850 w 723900"/>
                <a:gd name="connsiteY36" fmla="*/ 504825 h 714375"/>
                <a:gd name="connsiteX37" fmla="*/ 723900 w 723900"/>
                <a:gd name="connsiteY37" fmla="*/ 485775 h 714375"/>
                <a:gd name="connsiteX38" fmla="*/ 704850 w 723900"/>
                <a:gd name="connsiteY38" fmla="*/ 466725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23900" h="714375">
                  <a:moveTo>
                    <a:pt x="628650" y="104775"/>
                  </a:moveTo>
                  <a:lnTo>
                    <a:pt x="628650" y="447675"/>
                  </a:lnTo>
                  <a:lnTo>
                    <a:pt x="95250" y="447675"/>
                  </a:lnTo>
                  <a:lnTo>
                    <a:pt x="95250" y="104775"/>
                  </a:lnTo>
                  <a:close/>
                  <a:moveTo>
                    <a:pt x="704850" y="466725"/>
                  </a:moveTo>
                  <a:lnTo>
                    <a:pt x="685800" y="466725"/>
                  </a:lnTo>
                  <a:lnTo>
                    <a:pt x="685800" y="76200"/>
                  </a:lnTo>
                  <a:lnTo>
                    <a:pt x="704850" y="76200"/>
                  </a:lnTo>
                  <a:cubicBezTo>
                    <a:pt x="715371" y="76200"/>
                    <a:pt x="723900" y="67671"/>
                    <a:pt x="723900" y="57150"/>
                  </a:cubicBezTo>
                  <a:cubicBezTo>
                    <a:pt x="723900" y="46629"/>
                    <a:pt x="715371" y="38100"/>
                    <a:pt x="704850" y="38100"/>
                  </a:cubicBezTo>
                  <a:lnTo>
                    <a:pt x="381000" y="38100"/>
                  </a:lnTo>
                  <a:lnTo>
                    <a:pt x="381000" y="19050"/>
                  </a:lnTo>
                  <a:cubicBezTo>
                    <a:pt x="381000" y="8529"/>
                    <a:pt x="372471" y="0"/>
                    <a:pt x="361950" y="0"/>
                  </a:cubicBezTo>
                  <a:cubicBezTo>
                    <a:pt x="351429" y="0"/>
                    <a:pt x="342900" y="8529"/>
                    <a:pt x="342900" y="19050"/>
                  </a:cubicBezTo>
                  <a:lnTo>
                    <a:pt x="342900" y="38100"/>
                  </a:lnTo>
                  <a:lnTo>
                    <a:pt x="19050" y="38100"/>
                  </a:lnTo>
                  <a:cubicBezTo>
                    <a:pt x="8529" y="38100"/>
                    <a:pt x="0" y="46629"/>
                    <a:pt x="0" y="57150"/>
                  </a:cubicBezTo>
                  <a:cubicBezTo>
                    <a:pt x="0" y="67671"/>
                    <a:pt x="8529" y="76200"/>
                    <a:pt x="19050" y="76200"/>
                  </a:cubicBezTo>
                  <a:lnTo>
                    <a:pt x="38100" y="76200"/>
                  </a:lnTo>
                  <a:lnTo>
                    <a:pt x="38100" y="466725"/>
                  </a:lnTo>
                  <a:lnTo>
                    <a:pt x="19050" y="466725"/>
                  </a:lnTo>
                  <a:cubicBezTo>
                    <a:pt x="8529" y="466725"/>
                    <a:pt x="0" y="475254"/>
                    <a:pt x="0" y="485775"/>
                  </a:cubicBezTo>
                  <a:cubicBezTo>
                    <a:pt x="0" y="496296"/>
                    <a:pt x="8529" y="504825"/>
                    <a:pt x="19050" y="504825"/>
                  </a:cubicBezTo>
                  <a:lnTo>
                    <a:pt x="309944" y="504825"/>
                  </a:lnTo>
                  <a:lnTo>
                    <a:pt x="163259" y="651510"/>
                  </a:lnTo>
                  <a:cubicBezTo>
                    <a:pt x="155815" y="659033"/>
                    <a:pt x="155879" y="671165"/>
                    <a:pt x="163401" y="678609"/>
                  </a:cubicBezTo>
                  <a:cubicBezTo>
                    <a:pt x="170924" y="686052"/>
                    <a:pt x="183056" y="685989"/>
                    <a:pt x="190500" y="678466"/>
                  </a:cubicBezTo>
                  <a:lnTo>
                    <a:pt x="342900" y="526066"/>
                  </a:lnTo>
                  <a:lnTo>
                    <a:pt x="342900" y="695325"/>
                  </a:lnTo>
                  <a:cubicBezTo>
                    <a:pt x="342900" y="705846"/>
                    <a:pt x="351429" y="714375"/>
                    <a:pt x="361950" y="714375"/>
                  </a:cubicBezTo>
                  <a:cubicBezTo>
                    <a:pt x="372471" y="714375"/>
                    <a:pt x="381000" y="705846"/>
                    <a:pt x="381000" y="695325"/>
                  </a:cubicBezTo>
                  <a:lnTo>
                    <a:pt x="381000" y="525780"/>
                  </a:lnTo>
                  <a:lnTo>
                    <a:pt x="533400" y="678180"/>
                  </a:lnTo>
                  <a:cubicBezTo>
                    <a:pt x="540844" y="685624"/>
                    <a:pt x="552912" y="685624"/>
                    <a:pt x="560356" y="678180"/>
                  </a:cubicBezTo>
                  <a:cubicBezTo>
                    <a:pt x="567800" y="670736"/>
                    <a:pt x="567800" y="658668"/>
                    <a:pt x="560356" y="651224"/>
                  </a:cubicBezTo>
                  <a:lnTo>
                    <a:pt x="413957" y="504825"/>
                  </a:lnTo>
                  <a:lnTo>
                    <a:pt x="704850" y="504825"/>
                  </a:lnTo>
                  <a:cubicBezTo>
                    <a:pt x="715371" y="504825"/>
                    <a:pt x="723900" y="496296"/>
                    <a:pt x="723900" y="485775"/>
                  </a:cubicBezTo>
                  <a:cubicBezTo>
                    <a:pt x="723900" y="475254"/>
                    <a:pt x="715371" y="466725"/>
                    <a:pt x="704850" y="4667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2D47460-16DF-5DE6-D3C5-6788C3C4C1ED}"/>
              </a:ext>
            </a:extLst>
          </p:cNvPr>
          <p:cNvGrpSpPr/>
          <p:nvPr/>
        </p:nvGrpSpPr>
        <p:grpSpPr>
          <a:xfrm flipH="1" flipV="1">
            <a:off x="1170406" y="3937215"/>
            <a:ext cx="341284" cy="380932"/>
            <a:chOff x="5754706" y="3048000"/>
            <a:chExt cx="682688" cy="762000"/>
          </a:xfrm>
          <a:solidFill>
            <a:schemeClr val="bg1"/>
          </a:solidFill>
        </p:grpSpPr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A2B71BCB-5F08-81BE-9BEE-6D8770E6525C}"/>
                </a:ext>
              </a:extLst>
            </p:cNvPr>
            <p:cNvSpPr/>
            <p:nvPr/>
          </p:nvSpPr>
          <p:spPr>
            <a:xfrm>
              <a:off x="6035992" y="3371850"/>
              <a:ext cx="114300" cy="114300"/>
            </a:xfrm>
            <a:custGeom>
              <a:avLst/>
              <a:gdLst>
                <a:gd name="connsiteX0" fmla="*/ 114300 w 114300"/>
                <a:gd name="connsiteY0" fmla="*/ 57150 h 114300"/>
                <a:gd name="connsiteX1" fmla="*/ 57150 w 114300"/>
                <a:gd name="connsiteY1" fmla="*/ 114300 h 114300"/>
                <a:gd name="connsiteX2" fmla="*/ 0 w 114300"/>
                <a:gd name="connsiteY2" fmla="*/ 57150 h 114300"/>
                <a:gd name="connsiteX3" fmla="*/ 57150 w 114300"/>
                <a:gd name="connsiteY3" fmla="*/ 0 h 114300"/>
                <a:gd name="connsiteX4" fmla="*/ 114300 w 114300"/>
                <a:gd name="connsiteY4" fmla="*/ 5715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88713"/>
                    <a:pt x="88713" y="114300"/>
                    <a:pt x="57150" y="114300"/>
                  </a:cubicBezTo>
                  <a:cubicBezTo>
                    <a:pt x="25587" y="114300"/>
                    <a:pt x="0" y="88713"/>
                    <a:pt x="0" y="57150"/>
                  </a:cubicBezTo>
                  <a:cubicBezTo>
                    <a:pt x="0" y="25587"/>
                    <a:pt x="25587" y="0"/>
                    <a:pt x="57150" y="0"/>
                  </a:cubicBezTo>
                  <a:cubicBezTo>
                    <a:pt x="88713" y="0"/>
                    <a:pt x="114300" y="25587"/>
                    <a:pt x="114300" y="571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4C09A4A1-9D1E-6286-6879-539B9D09216B}"/>
                </a:ext>
              </a:extLst>
            </p:cNvPr>
            <p:cNvSpPr/>
            <p:nvPr/>
          </p:nvSpPr>
          <p:spPr>
            <a:xfrm>
              <a:off x="5754706" y="3048000"/>
              <a:ext cx="682688" cy="762000"/>
            </a:xfrm>
            <a:custGeom>
              <a:avLst/>
              <a:gdLst>
                <a:gd name="connsiteX0" fmla="*/ 673716 w 682688"/>
                <a:gd name="connsiteY0" fmla="*/ 190500 h 762000"/>
                <a:gd name="connsiteX1" fmla="*/ 571798 w 682688"/>
                <a:gd name="connsiteY1" fmla="*/ 149543 h 762000"/>
                <a:gd name="connsiteX2" fmla="*/ 464166 w 682688"/>
                <a:gd name="connsiteY2" fmla="*/ 165735 h 762000"/>
                <a:gd name="connsiteX3" fmla="*/ 338436 w 682688"/>
                <a:gd name="connsiteY3" fmla="*/ 0 h 762000"/>
                <a:gd name="connsiteX4" fmla="*/ 213658 w 682688"/>
                <a:gd name="connsiteY4" fmla="*/ 163830 h 762000"/>
                <a:gd name="connsiteX5" fmla="*/ 110788 w 682688"/>
                <a:gd name="connsiteY5" fmla="*/ 148590 h 762000"/>
                <a:gd name="connsiteX6" fmla="*/ 8871 w 682688"/>
                <a:gd name="connsiteY6" fmla="*/ 189548 h 762000"/>
                <a:gd name="connsiteX7" fmla="*/ 90786 w 682688"/>
                <a:gd name="connsiteY7" fmla="*/ 382905 h 762000"/>
                <a:gd name="connsiteX8" fmla="*/ 13633 w 682688"/>
                <a:gd name="connsiteY8" fmla="*/ 570548 h 762000"/>
                <a:gd name="connsiteX9" fmla="*/ 115551 w 682688"/>
                <a:gd name="connsiteY9" fmla="*/ 611505 h 762000"/>
                <a:gd name="connsiteX10" fmla="*/ 213658 w 682688"/>
                <a:gd name="connsiteY10" fmla="*/ 598170 h 762000"/>
                <a:gd name="connsiteX11" fmla="*/ 338436 w 682688"/>
                <a:gd name="connsiteY11" fmla="*/ 762000 h 762000"/>
                <a:gd name="connsiteX12" fmla="*/ 463213 w 682688"/>
                <a:gd name="connsiteY12" fmla="*/ 598170 h 762000"/>
                <a:gd name="connsiteX13" fmla="*/ 566083 w 682688"/>
                <a:gd name="connsiteY13" fmla="*/ 613410 h 762000"/>
                <a:gd name="connsiteX14" fmla="*/ 668001 w 682688"/>
                <a:gd name="connsiteY14" fmla="*/ 572453 h 762000"/>
                <a:gd name="connsiteX15" fmla="*/ 590848 w 682688"/>
                <a:gd name="connsiteY15" fmla="*/ 384810 h 762000"/>
                <a:gd name="connsiteX16" fmla="*/ 673716 w 682688"/>
                <a:gd name="connsiteY16" fmla="*/ 190500 h 762000"/>
                <a:gd name="connsiteX17" fmla="*/ 571798 w 682688"/>
                <a:gd name="connsiteY17" fmla="*/ 187643 h 762000"/>
                <a:gd name="connsiteX18" fmla="*/ 640378 w 682688"/>
                <a:gd name="connsiteY18" fmla="*/ 209550 h 762000"/>
                <a:gd name="connsiteX19" fmla="*/ 564178 w 682688"/>
                <a:gd name="connsiteY19" fmla="*/ 357188 h 762000"/>
                <a:gd name="connsiteX20" fmla="*/ 487026 w 682688"/>
                <a:gd name="connsiteY20" fmla="*/ 295275 h 762000"/>
                <a:gd name="connsiteX21" fmla="*/ 472738 w 682688"/>
                <a:gd name="connsiteY21" fmla="*/ 201930 h 762000"/>
                <a:gd name="connsiteX22" fmla="*/ 571798 w 682688"/>
                <a:gd name="connsiteY22" fmla="*/ 187643 h 762000"/>
                <a:gd name="connsiteX23" fmla="*/ 401301 w 682688"/>
                <a:gd name="connsiteY23" fmla="*/ 480060 h 762000"/>
                <a:gd name="connsiteX24" fmla="*/ 341293 w 682688"/>
                <a:gd name="connsiteY24" fmla="*/ 511493 h 762000"/>
                <a:gd name="connsiteX25" fmla="*/ 281286 w 682688"/>
                <a:gd name="connsiteY25" fmla="*/ 480060 h 762000"/>
                <a:gd name="connsiteX26" fmla="*/ 226041 w 682688"/>
                <a:gd name="connsiteY26" fmla="*/ 445770 h 762000"/>
                <a:gd name="connsiteX27" fmla="*/ 224136 w 682688"/>
                <a:gd name="connsiteY27" fmla="*/ 381000 h 762000"/>
                <a:gd name="connsiteX28" fmla="*/ 226041 w 682688"/>
                <a:gd name="connsiteY28" fmla="*/ 320040 h 762000"/>
                <a:gd name="connsiteX29" fmla="*/ 287001 w 682688"/>
                <a:gd name="connsiteY29" fmla="*/ 281940 h 762000"/>
                <a:gd name="connsiteX30" fmla="*/ 341293 w 682688"/>
                <a:gd name="connsiteY30" fmla="*/ 253365 h 762000"/>
                <a:gd name="connsiteX31" fmla="*/ 395586 w 682688"/>
                <a:gd name="connsiteY31" fmla="*/ 281940 h 762000"/>
                <a:gd name="connsiteX32" fmla="*/ 450831 w 682688"/>
                <a:gd name="connsiteY32" fmla="*/ 316230 h 762000"/>
                <a:gd name="connsiteX33" fmla="*/ 452736 w 682688"/>
                <a:gd name="connsiteY33" fmla="*/ 381000 h 762000"/>
                <a:gd name="connsiteX34" fmla="*/ 449878 w 682688"/>
                <a:gd name="connsiteY34" fmla="*/ 449580 h 762000"/>
                <a:gd name="connsiteX35" fmla="*/ 401301 w 682688"/>
                <a:gd name="connsiteY35" fmla="*/ 480060 h 762000"/>
                <a:gd name="connsiteX36" fmla="*/ 445116 w 682688"/>
                <a:gd name="connsiteY36" fmla="*/ 498158 h 762000"/>
                <a:gd name="connsiteX37" fmla="*/ 436543 w 682688"/>
                <a:gd name="connsiteY37" fmla="*/ 550545 h 762000"/>
                <a:gd name="connsiteX38" fmla="*/ 386061 w 682688"/>
                <a:gd name="connsiteY38" fmla="*/ 531495 h 762000"/>
                <a:gd name="connsiteX39" fmla="*/ 420351 w 682688"/>
                <a:gd name="connsiteY39" fmla="*/ 512445 h 762000"/>
                <a:gd name="connsiteX40" fmla="*/ 445116 w 682688"/>
                <a:gd name="connsiteY40" fmla="*/ 498158 h 762000"/>
                <a:gd name="connsiteX41" fmla="*/ 296526 w 682688"/>
                <a:gd name="connsiteY41" fmla="*/ 531495 h 762000"/>
                <a:gd name="connsiteX42" fmla="*/ 241281 w 682688"/>
                <a:gd name="connsiteY42" fmla="*/ 551498 h 762000"/>
                <a:gd name="connsiteX43" fmla="*/ 231756 w 682688"/>
                <a:gd name="connsiteY43" fmla="*/ 494348 h 762000"/>
                <a:gd name="connsiteX44" fmla="*/ 263188 w 682688"/>
                <a:gd name="connsiteY44" fmla="*/ 513398 h 762000"/>
                <a:gd name="connsiteX45" fmla="*/ 296526 w 682688"/>
                <a:gd name="connsiteY45" fmla="*/ 531495 h 762000"/>
                <a:gd name="connsiteX46" fmla="*/ 186988 w 682688"/>
                <a:gd name="connsiteY46" fmla="*/ 417195 h 762000"/>
                <a:gd name="connsiteX47" fmla="*/ 146031 w 682688"/>
                <a:gd name="connsiteY47" fmla="*/ 382905 h 762000"/>
                <a:gd name="connsiteX48" fmla="*/ 186988 w 682688"/>
                <a:gd name="connsiteY48" fmla="*/ 348615 h 762000"/>
                <a:gd name="connsiteX49" fmla="*/ 186036 w 682688"/>
                <a:gd name="connsiteY49" fmla="*/ 381000 h 762000"/>
                <a:gd name="connsiteX50" fmla="*/ 186988 w 682688"/>
                <a:gd name="connsiteY50" fmla="*/ 417195 h 762000"/>
                <a:gd name="connsiteX51" fmla="*/ 230803 w 682688"/>
                <a:gd name="connsiteY51" fmla="*/ 271463 h 762000"/>
                <a:gd name="connsiteX52" fmla="*/ 240328 w 682688"/>
                <a:gd name="connsiteY52" fmla="*/ 211455 h 762000"/>
                <a:gd name="connsiteX53" fmla="*/ 296526 w 682688"/>
                <a:gd name="connsiteY53" fmla="*/ 232410 h 762000"/>
                <a:gd name="connsiteX54" fmla="*/ 266998 w 682688"/>
                <a:gd name="connsiteY54" fmla="*/ 248602 h 762000"/>
                <a:gd name="connsiteX55" fmla="*/ 230803 w 682688"/>
                <a:gd name="connsiteY55" fmla="*/ 271463 h 762000"/>
                <a:gd name="connsiteX56" fmla="*/ 385108 w 682688"/>
                <a:gd name="connsiteY56" fmla="*/ 232410 h 762000"/>
                <a:gd name="connsiteX57" fmla="*/ 436543 w 682688"/>
                <a:gd name="connsiteY57" fmla="*/ 213360 h 762000"/>
                <a:gd name="connsiteX58" fmla="*/ 446068 w 682688"/>
                <a:gd name="connsiteY58" fmla="*/ 267653 h 762000"/>
                <a:gd name="connsiteX59" fmla="*/ 414636 w 682688"/>
                <a:gd name="connsiteY59" fmla="*/ 248602 h 762000"/>
                <a:gd name="connsiteX60" fmla="*/ 385108 w 682688"/>
                <a:gd name="connsiteY60" fmla="*/ 232410 h 762000"/>
                <a:gd name="connsiteX61" fmla="*/ 489883 w 682688"/>
                <a:gd name="connsiteY61" fmla="*/ 344805 h 762000"/>
                <a:gd name="connsiteX62" fmla="*/ 536556 w 682688"/>
                <a:gd name="connsiteY62" fmla="*/ 383858 h 762000"/>
                <a:gd name="connsiteX63" fmla="*/ 489883 w 682688"/>
                <a:gd name="connsiteY63" fmla="*/ 421958 h 762000"/>
                <a:gd name="connsiteX64" fmla="*/ 490836 w 682688"/>
                <a:gd name="connsiteY64" fmla="*/ 381953 h 762000"/>
                <a:gd name="connsiteX65" fmla="*/ 489883 w 682688"/>
                <a:gd name="connsiteY65" fmla="*/ 344805 h 762000"/>
                <a:gd name="connsiteX66" fmla="*/ 338436 w 682688"/>
                <a:gd name="connsiteY66" fmla="*/ 38100 h 762000"/>
                <a:gd name="connsiteX67" fmla="*/ 427971 w 682688"/>
                <a:gd name="connsiteY67" fmla="*/ 176213 h 762000"/>
                <a:gd name="connsiteX68" fmla="*/ 341293 w 682688"/>
                <a:gd name="connsiteY68" fmla="*/ 210503 h 762000"/>
                <a:gd name="connsiteX69" fmla="*/ 249853 w 682688"/>
                <a:gd name="connsiteY69" fmla="*/ 174308 h 762000"/>
                <a:gd name="connsiteX70" fmla="*/ 338436 w 682688"/>
                <a:gd name="connsiteY70" fmla="*/ 38100 h 762000"/>
                <a:gd name="connsiteX71" fmla="*/ 41256 w 682688"/>
                <a:gd name="connsiteY71" fmla="*/ 209550 h 762000"/>
                <a:gd name="connsiteX72" fmla="*/ 109836 w 682688"/>
                <a:gd name="connsiteY72" fmla="*/ 187643 h 762000"/>
                <a:gd name="connsiteX73" fmla="*/ 203181 w 682688"/>
                <a:gd name="connsiteY73" fmla="*/ 200978 h 762000"/>
                <a:gd name="connsiteX74" fmla="*/ 188893 w 682688"/>
                <a:gd name="connsiteY74" fmla="*/ 299085 h 762000"/>
                <a:gd name="connsiteX75" fmla="*/ 117456 w 682688"/>
                <a:gd name="connsiteY75" fmla="*/ 357188 h 762000"/>
                <a:gd name="connsiteX76" fmla="*/ 41256 w 682688"/>
                <a:gd name="connsiteY76" fmla="*/ 209550 h 762000"/>
                <a:gd name="connsiteX77" fmla="*/ 115551 w 682688"/>
                <a:gd name="connsiteY77" fmla="*/ 574358 h 762000"/>
                <a:gd name="connsiteX78" fmla="*/ 46971 w 682688"/>
                <a:gd name="connsiteY78" fmla="*/ 552450 h 762000"/>
                <a:gd name="connsiteX79" fmla="*/ 118408 w 682688"/>
                <a:gd name="connsiteY79" fmla="*/ 409575 h 762000"/>
                <a:gd name="connsiteX80" fmla="*/ 189846 w 682688"/>
                <a:gd name="connsiteY80" fmla="*/ 466725 h 762000"/>
                <a:gd name="connsiteX81" fmla="*/ 204133 w 682688"/>
                <a:gd name="connsiteY81" fmla="*/ 561975 h 762000"/>
                <a:gd name="connsiteX82" fmla="*/ 115551 w 682688"/>
                <a:gd name="connsiteY82" fmla="*/ 574358 h 762000"/>
                <a:gd name="connsiteX83" fmla="*/ 338436 w 682688"/>
                <a:gd name="connsiteY83" fmla="*/ 723900 h 762000"/>
                <a:gd name="connsiteX84" fmla="*/ 249853 w 682688"/>
                <a:gd name="connsiteY84" fmla="*/ 588645 h 762000"/>
                <a:gd name="connsiteX85" fmla="*/ 341293 w 682688"/>
                <a:gd name="connsiteY85" fmla="*/ 553403 h 762000"/>
                <a:gd name="connsiteX86" fmla="*/ 427018 w 682688"/>
                <a:gd name="connsiteY86" fmla="*/ 586740 h 762000"/>
                <a:gd name="connsiteX87" fmla="*/ 338436 w 682688"/>
                <a:gd name="connsiteY87" fmla="*/ 723900 h 762000"/>
                <a:gd name="connsiteX88" fmla="*/ 635616 w 682688"/>
                <a:gd name="connsiteY88" fmla="*/ 552450 h 762000"/>
                <a:gd name="connsiteX89" fmla="*/ 567036 w 682688"/>
                <a:gd name="connsiteY89" fmla="*/ 574358 h 762000"/>
                <a:gd name="connsiteX90" fmla="*/ 473691 w 682688"/>
                <a:gd name="connsiteY90" fmla="*/ 561023 h 762000"/>
                <a:gd name="connsiteX91" fmla="*/ 487026 w 682688"/>
                <a:gd name="connsiteY91" fmla="*/ 470535 h 762000"/>
                <a:gd name="connsiteX92" fmla="*/ 564178 w 682688"/>
                <a:gd name="connsiteY92" fmla="*/ 409575 h 762000"/>
                <a:gd name="connsiteX93" fmla="*/ 635616 w 682688"/>
                <a:gd name="connsiteY93" fmla="*/ 55245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682688" h="762000">
                  <a:moveTo>
                    <a:pt x="673716" y="190500"/>
                  </a:moveTo>
                  <a:cubicBezTo>
                    <a:pt x="657523" y="162878"/>
                    <a:pt x="621328" y="149543"/>
                    <a:pt x="571798" y="149543"/>
                  </a:cubicBezTo>
                  <a:cubicBezTo>
                    <a:pt x="540366" y="149543"/>
                    <a:pt x="504171" y="155258"/>
                    <a:pt x="464166" y="165735"/>
                  </a:cubicBezTo>
                  <a:cubicBezTo>
                    <a:pt x="436543" y="65723"/>
                    <a:pt x="390823" y="0"/>
                    <a:pt x="338436" y="0"/>
                  </a:cubicBezTo>
                  <a:cubicBezTo>
                    <a:pt x="287001" y="0"/>
                    <a:pt x="240328" y="64770"/>
                    <a:pt x="213658" y="163830"/>
                  </a:cubicBezTo>
                  <a:cubicBezTo>
                    <a:pt x="175558" y="154305"/>
                    <a:pt x="141268" y="148590"/>
                    <a:pt x="110788" y="148590"/>
                  </a:cubicBezTo>
                  <a:cubicBezTo>
                    <a:pt x="61258" y="148590"/>
                    <a:pt x="25063" y="161925"/>
                    <a:pt x="8871" y="189548"/>
                  </a:cubicBezTo>
                  <a:cubicBezTo>
                    <a:pt x="-17799" y="235268"/>
                    <a:pt x="17443" y="308610"/>
                    <a:pt x="90786" y="382905"/>
                  </a:cubicBezTo>
                  <a:cubicBezTo>
                    <a:pt x="20301" y="455295"/>
                    <a:pt x="-12084" y="525780"/>
                    <a:pt x="13633" y="570548"/>
                  </a:cubicBezTo>
                  <a:cubicBezTo>
                    <a:pt x="29826" y="598170"/>
                    <a:pt x="66021" y="611505"/>
                    <a:pt x="115551" y="611505"/>
                  </a:cubicBezTo>
                  <a:cubicBezTo>
                    <a:pt x="144126" y="611505"/>
                    <a:pt x="177463" y="606743"/>
                    <a:pt x="213658" y="598170"/>
                  </a:cubicBezTo>
                  <a:cubicBezTo>
                    <a:pt x="241281" y="697230"/>
                    <a:pt x="287001" y="762000"/>
                    <a:pt x="338436" y="762000"/>
                  </a:cubicBezTo>
                  <a:cubicBezTo>
                    <a:pt x="389871" y="762000"/>
                    <a:pt x="436543" y="697230"/>
                    <a:pt x="463213" y="598170"/>
                  </a:cubicBezTo>
                  <a:cubicBezTo>
                    <a:pt x="501313" y="607695"/>
                    <a:pt x="535603" y="613410"/>
                    <a:pt x="566083" y="613410"/>
                  </a:cubicBezTo>
                  <a:cubicBezTo>
                    <a:pt x="615613" y="613410"/>
                    <a:pt x="651808" y="600075"/>
                    <a:pt x="668001" y="572453"/>
                  </a:cubicBezTo>
                  <a:cubicBezTo>
                    <a:pt x="693718" y="527685"/>
                    <a:pt x="661333" y="457200"/>
                    <a:pt x="590848" y="384810"/>
                  </a:cubicBezTo>
                  <a:cubicBezTo>
                    <a:pt x="666096" y="309563"/>
                    <a:pt x="700386" y="236220"/>
                    <a:pt x="673716" y="190500"/>
                  </a:cubicBezTo>
                  <a:close/>
                  <a:moveTo>
                    <a:pt x="571798" y="187643"/>
                  </a:moveTo>
                  <a:cubicBezTo>
                    <a:pt x="607041" y="187643"/>
                    <a:pt x="632758" y="196215"/>
                    <a:pt x="640378" y="209550"/>
                  </a:cubicBezTo>
                  <a:cubicBezTo>
                    <a:pt x="654666" y="234315"/>
                    <a:pt x="628948" y="292418"/>
                    <a:pt x="564178" y="357188"/>
                  </a:cubicBezTo>
                  <a:cubicBezTo>
                    <a:pt x="541318" y="336233"/>
                    <a:pt x="515601" y="315278"/>
                    <a:pt x="487026" y="295275"/>
                  </a:cubicBezTo>
                  <a:cubicBezTo>
                    <a:pt x="484168" y="262890"/>
                    <a:pt x="479406" y="231458"/>
                    <a:pt x="472738" y="201930"/>
                  </a:cubicBezTo>
                  <a:cubicBezTo>
                    <a:pt x="508933" y="192405"/>
                    <a:pt x="543223" y="187643"/>
                    <a:pt x="571798" y="187643"/>
                  </a:cubicBezTo>
                  <a:close/>
                  <a:moveTo>
                    <a:pt x="401301" y="480060"/>
                  </a:moveTo>
                  <a:cubicBezTo>
                    <a:pt x="381298" y="491490"/>
                    <a:pt x="361296" y="501968"/>
                    <a:pt x="341293" y="511493"/>
                  </a:cubicBezTo>
                  <a:cubicBezTo>
                    <a:pt x="321291" y="501968"/>
                    <a:pt x="301288" y="491490"/>
                    <a:pt x="281286" y="480060"/>
                  </a:cubicBezTo>
                  <a:cubicBezTo>
                    <a:pt x="262236" y="468630"/>
                    <a:pt x="243186" y="457200"/>
                    <a:pt x="226041" y="445770"/>
                  </a:cubicBezTo>
                  <a:cubicBezTo>
                    <a:pt x="224136" y="424815"/>
                    <a:pt x="224136" y="403860"/>
                    <a:pt x="224136" y="381000"/>
                  </a:cubicBezTo>
                  <a:cubicBezTo>
                    <a:pt x="224136" y="360045"/>
                    <a:pt x="225088" y="340043"/>
                    <a:pt x="226041" y="320040"/>
                  </a:cubicBezTo>
                  <a:cubicBezTo>
                    <a:pt x="245091" y="306705"/>
                    <a:pt x="265093" y="294323"/>
                    <a:pt x="287001" y="281940"/>
                  </a:cubicBezTo>
                  <a:cubicBezTo>
                    <a:pt x="305098" y="271463"/>
                    <a:pt x="323196" y="261938"/>
                    <a:pt x="341293" y="253365"/>
                  </a:cubicBezTo>
                  <a:cubicBezTo>
                    <a:pt x="359391" y="261938"/>
                    <a:pt x="377488" y="271463"/>
                    <a:pt x="395586" y="281940"/>
                  </a:cubicBezTo>
                  <a:cubicBezTo>
                    <a:pt x="414636" y="293370"/>
                    <a:pt x="433686" y="304800"/>
                    <a:pt x="450831" y="316230"/>
                  </a:cubicBezTo>
                  <a:cubicBezTo>
                    <a:pt x="452736" y="337185"/>
                    <a:pt x="452736" y="358140"/>
                    <a:pt x="452736" y="381000"/>
                  </a:cubicBezTo>
                  <a:cubicBezTo>
                    <a:pt x="452736" y="404813"/>
                    <a:pt x="451783" y="427673"/>
                    <a:pt x="449878" y="449580"/>
                  </a:cubicBezTo>
                  <a:cubicBezTo>
                    <a:pt x="434638" y="460058"/>
                    <a:pt x="418446" y="469583"/>
                    <a:pt x="401301" y="480060"/>
                  </a:cubicBezTo>
                  <a:close/>
                  <a:moveTo>
                    <a:pt x="445116" y="498158"/>
                  </a:moveTo>
                  <a:cubicBezTo>
                    <a:pt x="442258" y="516255"/>
                    <a:pt x="439401" y="534353"/>
                    <a:pt x="436543" y="550545"/>
                  </a:cubicBezTo>
                  <a:cubicBezTo>
                    <a:pt x="420351" y="544830"/>
                    <a:pt x="403206" y="539115"/>
                    <a:pt x="386061" y="531495"/>
                  </a:cubicBezTo>
                  <a:cubicBezTo>
                    <a:pt x="397491" y="525780"/>
                    <a:pt x="408921" y="519113"/>
                    <a:pt x="420351" y="512445"/>
                  </a:cubicBezTo>
                  <a:cubicBezTo>
                    <a:pt x="428923" y="507683"/>
                    <a:pt x="437496" y="502920"/>
                    <a:pt x="445116" y="498158"/>
                  </a:cubicBezTo>
                  <a:close/>
                  <a:moveTo>
                    <a:pt x="296526" y="531495"/>
                  </a:moveTo>
                  <a:cubicBezTo>
                    <a:pt x="277476" y="539115"/>
                    <a:pt x="259378" y="545783"/>
                    <a:pt x="241281" y="551498"/>
                  </a:cubicBezTo>
                  <a:cubicBezTo>
                    <a:pt x="237471" y="533400"/>
                    <a:pt x="234613" y="514350"/>
                    <a:pt x="231756" y="494348"/>
                  </a:cubicBezTo>
                  <a:cubicBezTo>
                    <a:pt x="242233" y="501015"/>
                    <a:pt x="251758" y="506730"/>
                    <a:pt x="263188" y="513398"/>
                  </a:cubicBezTo>
                  <a:cubicBezTo>
                    <a:pt x="273666" y="519113"/>
                    <a:pt x="285096" y="525780"/>
                    <a:pt x="296526" y="531495"/>
                  </a:cubicBezTo>
                  <a:close/>
                  <a:moveTo>
                    <a:pt x="186988" y="417195"/>
                  </a:moveTo>
                  <a:cubicBezTo>
                    <a:pt x="171748" y="405765"/>
                    <a:pt x="158413" y="394335"/>
                    <a:pt x="146031" y="382905"/>
                  </a:cubicBezTo>
                  <a:cubicBezTo>
                    <a:pt x="158413" y="371475"/>
                    <a:pt x="172701" y="360045"/>
                    <a:pt x="186988" y="348615"/>
                  </a:cubicBezTo>
                  <a:cubicBezTo>
                    <a:pt x="186988" y="359093"/>
                    <a:pt x="186036" y="369570"/>
                    <a:pt x="186036" y="381000"/>
                  </a:cubicBezTo>
                  <a:cubicBezTo>
                    <a:pt x="186036" y="393383"/>
                    <a:pt x="186036" y="405765"/>
                    <a:pt x="186988" y="417195"/>
                  </a:cubicBezTo>
                  <a:close/>
                  <a:moveTo>
                    <a:pt x="230803" y="271463"/>
                  </a:moveTo>
                  <a:cubicBezTo>
                    <a:pt x="233661" y="250508"/>
                    <a:pt x="236518" y="230505"/>
                    <a:pt x="240328" y="211455"/>
                  </a:cubicBezTo>
                  <a:cubicBezTo>
                    <a:pt x="258426" y="217170"/>
                    <a:pt x="277476" y="224790"/>
                    <a:pt x="296526" y="232410"/>
                  </a:cubicBezTo>
                  <a:cubicBezTo>
                    <a:pt x="287001" y="237173"/>
                    <a:pt x="276523" y="242888"/>
                    <a:pt x="266998" y="248602"/>
                  </a:cubicBezTo>
                  <a:cubicBezTo>
                    <a:pt x="255568" y="256223"/>
                    <a:pt x="243186" y="263843"/>
                    <a:pt x="230803" y="271463"/>
                  </a:cubicBezTo>
                  <a:close/>
                  <a:moveTo>
                    <a:pt x="385108" y="232410"/>
                  </a:moveTo>
                  <a:cubicBezTo>
                    <a:pt x="402253" y="224790"/>
                    <a:pt x="419398" y="219075"/>
                    <a:pt x="436543" y="213360"/>
                  </a:cubicBezTo>
                  <a:cubicBezTo>
                    <a:pt x="440353" y="230505"/>
                    <a:pt x="443211" y="248602"/>
                    <a:pt x="446068" y="267653"/>
                  </a:cubicBezTo>
                  <a:cubicBezTo>
                    <a:pt x="435591" y="260985"/>
                    <a:pt x="426066" y="255270"/>
                    <a:pt x="414636" y="248602"/>
                  </a:cubicBezTo>
                  <a:cubicBezTo>
                    <a:pt x="405111" y="243840"/>
                    <a:pt x="395586" y="238125"/>
                    <a:pt x="385108" y="232410"/>
                  </a:cubicBezTo>
                  <a:close/>
                  <a:moveTo>
                    <a:pt x="489883" y="344805"/>
                  </a:moveTo>
                  <a:cubicBezTo>
                    <a:pt x="507028" y="358140"/>
                    <a:pt x="522268" y="370523"/>
                    <a:pt x="536556" y="383858"/>
                  </a:cubicBezTo>
                  <a:cubicBezTo>
                    <a:pt x="522268" y="396240"/>
                    <a:pt x="507028" y="409575"/>
                    <a:pt x="489883" y="421958"/>
                  </a:cubicBezTo>
                  <a:cubicBezTo>
                    <a:pt x="490836" y="408623"/>
                    <a:pt x="490836" y="395288"/>
                    <a:pt x="490836" y="381953"/>
                  </a:cubicBezTo>
                  <a:cubicBezTo>
                    <a:pt x="490836" y="368618"/>
                    <a:pt x="490836" y="356235"/>
                    <a:pt x="489883" y="344805"/>
                  </a:cubicBezTo>
                  <a:close/>
                  <a:moveTo>
                    <a:pt x="338436" y="38100"/>
                  </a:moveTo>
                  <a:cubicBezTo>
                    <a:pt x="367011" y="38100"/>
                    <a:pt x="404158" y="88582"/>
                    <a:pt x="427971" y="176213"/>
                  </a:cubicBezTo>
                  <a:cubicBezTo>
                    <a:pt x="400348" y="185738"/>
                    <a:pt x="370821" y="197168"/>
                    <a:pt x="341293" y="210503"/>
                  </a:cubicBezTo>
                  <a:cubicBezTo>
                    <a:pt x="309861" y="196215"/>
                    <a:pt x="279381" y="183833"/>
                    <a:pt x="249853" y="174308"/>
                  </a:cubicBezTo>
                  <a:cubicBezTo>
                    <a:pt x="273666" y="87630"/>
                    <a:pt x="309861" y="38100"/>
                    <a:pt x="338436" y="38100"/>
                  </a:cubicBezTo>
                  <a:close/>
                  <a:moveTo>
                    <a:pt x="41256" y="209550"/>
                  </a:moveTo>
                  <a:cubicBezTo>
                    <a:pt x="49828" y="195263"/>
                    <a:pt x="74593" y="187643"/>
                    <a:pt x="109836" y="187643"/>
                  </a:cubicBezTo>
                  <a:cubicBezTo>
                    <a:pt x="137458" y="187643"/>
                    <a:pt x="168891" y="192405"/>
                    <a:pt x="203181" y="200978"/>
                  </a:cubicBezTo>
                  <a:cubicBezTo>
                    <a:pt x="196513" y="231458"/>
                    <a:pt x="191751" y="264795"/>
                    <a:pt x="188893" y="299085"/>
                  </a:cubicBezTo>
                  <a:cubicBezTo>
                    <a:pt x="162223" y="318135"/>
                    <a:pt x="138411" y="337185"/>
                    <a:pt x="117456" y="357188"/>
                  </a:cubicBezTo>
                  <a:cubicBezTo>
                    <a:pt x="53638" y="292418"/>
                    <a:pt x="26968" y="234315"/>
                    <a:pt x="41256" y="209550"/>
                  </a:cubicBezTo>
                  <a:close/>
                  <a:moveTo>
                    <a:pt x="115551" y="574358"/>
                  </a:moveTo>
                  <a:cubicBezTo>
                    <a:pt x="80308" y="574358"/>
                    <a:pt x="54591" y="565785"/>
                    <a:pt x="46971" y="552450"/>
                  </a:cubicBezTo>
                  <a:cubicBezTo>
                    <a:pt x="32683" y="527685"/>
                    <a:pt x="57448" y="472440"/>
                    <a:pt x="118408" y="409575"/>
                  </a:cubicBezTo>
                  <a:cubicBezTo>
                    <a:pt x="140316" y="428625"/>
                    <a:pt x="164128" y="447675"/>
                    <a:pt x="189846" y="466725"/>
                  </a:cubicBezTo>
                  <a:cubicBezTo>
                    <a:pt x="192703" y="500063"/>
                    <a:pt x="197466" y="532448"/>
                    <a:pt x="204133" y="561975"/>
                  </a:cubicBezTo>
                  <a:cubicBezTo>
                    <a:pt x="172701" y="570548"/>
                    <a:pt x="142221" y="574358"/>
                    <a:pt x="115551" y="574358"/>
                  </a:cubicBezTo>
                  <a:close/>
                  <a:moveTo>
                    <a:pt x="338436" y="723900"/>
                  </a:moveTo>
                  <a:cubicBezTo>
                    <a:pt x="309861" y="723900"/>
                    <a:pt x="273666" y="674370"/>
                    <a:pt x="249853" y="588645"/>
                  </a:cubicBezTo>
                  <a:cubicBezTo>
                    <a:pt x="279381" y="579120"/>
                    <a:pt x="309861" y="567690"/>
                    <a:pt x="341293" y="553403"/>
                  </a:cubicBezTo>
                  <a:cubicBezTo>
                    <a:pt x="370821" y="566738"/>
                    <a:pt x="399396" y="578168"/>
                    <a:pt x="427018" y="586740"/>
                  </a:cubicBezTo>
                  <a:cubicBezTo>
                    <a:pt x="403206" y="674370"/>
                    <a:pt x="367011" y="723900"/>
                    <a:pt x="338436" y="723900"/>
                  </a:cubicBezTo>
                  <a:close/>
                  <a:moveTo>
                    <a:pt x="635616" y="552450"/>
                  </a:moveTo>
                  <a:cubicBezTo>
                    <a:pt x="627043" y="566738"/>
                    <a:pt x="602278" y="574358"/>
                    <a:pt x="567036" y="574358"/>
                  </a:cubicBezTo>
                  <a:cubicBezTo>
                    <a:pt x="539413" y="574358"/>
                    <a:pt x="507028" y="569595"/>
                    <a:pt x="473691" y="561023"/>
                  </a:cubicBezTo>
                  <a:cubicBezTo>
                    <a:pt x="479406" y="532448"/>
                    <a:pt x="484168" y="502920"/>
                    <a:pt x="487026" y="470535"/>
                  </a:cubicBezTo>
                  <a:cubicBezTo>
                    <a:pt x="515601" y="450533"/>
                    <a:pt x="541318" y="430530"/>
                    <a:pt x="564178" y="409575"/>
                  </a:cubicBezTo>
                  <a:cubicBezTo>
                    <a:pt x="625138" y="472440"/>
                    <a:pt x="649903" y="527685"/>
                    <a:pt x="635616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391EC10-230C-B3F2-9E8C-C679C416C8FD}"/>
              </a:ext>
            </a:extLst>
          </p:cNvPr>
          <p:cNvGrpSpPr/>
          <p:nvPr/>
        </p:nvGrpSpPr>
        <p:grpSpPr>
          <a:xfrm>
            <a:off x="10894660" y="2823815"/>
            <a:ext cx="352440" cy="381516"/>
            <a:chOff x="5707856" y="3009900"/>
            <a:chExt cx="759619" cy="822292"/>
          </a:xfrm>
          <a:solidFill>
            <a:schemeClr val="bg1"/>
          </a:solidFill>
        </p:grpSpPr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A64E86D8-5FA0-2532-B907-A644E6DF99FC}"/>
                </a:ext>
              </a:extLst>
            </p:cNvPr>
            <p:cNvSpPr/>
            <p:nvPr/>
          </p:nvSpPr>
          <p:spPr>
            <a:xfrm>
              <a:off x="5978270" y="3280219"/>
              <a:ext cx="218122" cy="216788"/>
            </a:xfrm>
            <a:custGeom>
              <a:avLst/>
              <a:gdLst>
                <a:gd name="connsiteX0" fmla="*/ 187547 w 218122"/>
                <a:gd name="connsiteY0" fmla="*/ 64675 h 216788"/>
                <a:gd name="connsiteX1" fmla="*/ 195644 w 218122"/>
                <a:gd name="connsiteY1" fmla="*/ 40672 h 216788"/>
                <a:gd name="connsiteX2" fmla="*/ 177355 w 218122"/>
                <a:gd name="connsiteY2" fmla="*/ 22384 h 216788"/>
                <a:gd name="connsiteX3" fmla="*/ 153353 w 218122"/>
                <a:gd name="connsiteY3" fmla="*/ 30480 h 216788"/>
                <a:gd name="connsiteX4" fmla="*/ 133541 w 218122"/>
                <a:gd name="connsiteY4" fmla="*/ 22384 h 216788"/>
                <a:gd name="connsiteX5" fmla="*/ 122301 w 218122"/>
                <a:gd name="connsiteY5" fmla="*/ 0 h 216788"/>
                <a:gd name="connsiteX6" fmla="*/ 96774 w 218122"/>
                <a:gd name="connsiteY6" fmla="*/ 0 h 216788"/>
                <a:gd name="connsiteX7" fmla="*/ 85439 w 218122"/>
                <a:gd name="connsiteY7" fmla="*/ 22479 h 216788"/>
                <a:gd name="connsiteX8" fmla="*/ 65532 w 218122"/>
                <a:gd name="connsiteY8" fmla="*/ 30575 h 216788"/>
                <a:gd name="connsiteX9" fmla="*/ 41529 w 218122"/>
                <a:gd name="connsiteY9" fmla="*/ 22479 h 216788"/>
                <a:gd name="connsiteX10" fmla="*/ 23241 w 218122"/>
                <a:gd name="connsiteY10" fmla="*/ 40767 h 216788"/>
                <a:gd name="connsiteX11" fmla="*/ 30861 w 218122"/>
                <a:gd name="connsiteY11" fmla="*/ 64770 h 216788"/>
                <a:gd name="connsiteX12" fmla="*/ 22479 w 218122"/>
                <a:gd name="connsiteY12" fmla="*/ 84582 h 216788"/>
                <a:gd name="connsiteX13" fmla="*/ 0 w 218122"/>
                <a:gd name="connsiteY13" fmla="*/ 95821 h 216788"/>
                <a:gd name="connsiteX14" fmla="*/ 0 w 218122"/>
                <a:gd name="connsiteY14" fmla="*/ 120968 h 216788"/>
                <a:gd name="connsiteX15" fmla="*/ 22479 w 218122"/>
                <a:gd name="connsiteY15" fmla="*/ 132302 h 216788"/>
                <a:gd name="connsiteX16" fmla="*/ 30575 w 218122"/>
                <a:gd name="connsiteY16" fmla="*/ 152114 h 216788"/>
                <a:gd name="connsiteX17" fmla="*/ 22479 w 218122"/>
                <a:gd name="connsiteY17" fmla="*/ 176117 h 216788"/>
                <a:gd name="connsiteX18" fmla="*/ 41529 w 218122"/>
                <a:gd name="connsiteY18" fmla="*/ 194405 h 216788"/>
                <a:gd name="connsiteX19" fmla="*/ 65532 w 218122"/>
                <a:gd name="connsiteY19" fmla="*/ 186214 h 216788"/>
                <a:gd name="connsiteX20" fmla="*/ 85344 w 218122"/>
                <a:gd name="connsiteY20" fmla="*/ 194405 h 216788"/>
                <a:gd name="connsiteX21" fmla="*/ 96583 w 218122"/>
                <a:gd name="connsiteY21" fmla="*/ 216789 h 216788"/>
                <a:gd name="connsiteX22" fmla="*/ 122111 w 218122"/>
                <a:gd name="connsiteY22" fmla="*/ 216789 h 216788"/>
                <a:gd name="connsiteX23" fmla="*/ 133445 w 218122"/>
                <a:gd name="connsiteY23" fmla="*/ 194786 h 216788"/>
                <a:gd name="connsiteX24" fmla="*/ 152972 w 218122"/>
                <a:gd name="connsiteY24" fmla="*/ 186880 h 216788"/>
                <a:gd name="connsiteX25" fmla="*/ 176879 w 218122"/>
                <a:gd name="connsiteY25" fmla="*/ 195072 h 216788"/>
                <a:gd name="connsiteX26" fmla="*/ 195167 w 218122"/>
                <a:gd name="connsiteY26" fmla="*/ 176689 h 216788"/>
                <a:gd name="connsiteX27" fmla="*/ 187071 w 218122"/>
                <a:gd name="connsiteY27" fmla="*/ 152781 h 216788"/>
                <a:gd name="connsiteX28" fmla="*/ 195739 w 218122"/>
                <a:gd name="connsiteY28" fmla="*/ 132874 h 216788"/>
                <a:gd name="connsiteX29" fmla="*/ 218123 w 218122"/>
                <a:gd name="connsiteY29" fmla="*/ 121634 h 216788"/>
                <a:gd name="connsiteX30" fmla="*/ 218123 w 218122"/>
                <a:gd name="connsiteY30" fmla="*/ 95821 h 216788"/>
                <a:gd name="connsiteX31" fmla="*/ 195644 w 218122"/>
                <a:gd name="connsiteY31" fmla="*/ 84487 h 216788"/>
                <a:gd name="connsiteX32" fmla="*/ 187547 w 218122"/>
                <a:gd name="connsiteY32" fmla="*/ 64675 h 216788"/>
                <a:gd name="connsiteX33" fmla="*/ 109442 w 218122"/>
                <a:gd name="connsiteY33" fmla="*/ 146875 h 216788"/>
                <a:gd name="connsiteX34" fmla="*/ 71342 w 218122"/>
                <a:gd name="connsiteY34" fmla="*/ 108775 h 216788"/>
                <a:gd name="connsiteX35" fmla="*/ 109442 w 218122"/>
                <a:gd name="connsiteY35" fmla="*/ 70675 h 216788"/>
                <a:gd name="connsiteX36" fmla="*/ 147542 w 218122"/>
                <a:gd name="connsiteY36" fmla="*/ 108775 h 216788"/>
                <a:gd name="connsiteX37" fmla="*/ 109442 w 218122"/>
                <a:gd name="connsiteY37" fmla="*/ 146875 h 21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18122" h="216788">
                  <a:moveTo>
                    <a:pt x="187547" y="64675"/>
                  </a:moveTo>
                  <a:lnTo>
                    <a:pt x="195644" y="40672"/>
                  </a:lnTo>
                  <a:lnTo>
                    <a:pt x="177355" y="22384"/>
                  </a:lnTo>
                  <a:lnTo>
                    <a:pt x="153353" y="30480"/>
                  </a:lnTo>
                  <a:cubicBezTo>
                    <a:pt x="147113" y="26964"/>
                    <a:pt x="140457" y="24244"/>
                    <a:pt x="133541" y="22384"/>
                  </a:cubicBezTo>
                  <a:lnTo>
                    <a:pt x="122301" y="0"/>
                  </a:lnTo>
                  <a:lnTo>
                    <a:pt x="96774" y="0"/>
                  </a:lnTo>
                  <a:lnTo>
                    <a:pt x="85439" y="22479"/>
                  </a:lnTo>
                  <a:cubicBezTo>
                    <a:pt x="78498" y="24356"/>
                    <a:pt x="71813" y="27075"/>
                    <a:pt x="65532" y="30575"/>
                  </a:cubicBezTo>
                  <a:lnTo>
                    <a:pt x="41529" y="22479"/>
                  </a:lnTo>
                  <a:lnTo>
                    <a:pt x="23241" y="40767"/>
                  </a:lnTo>
                  <a:lnTo>
                    <a:pt x="30861" y="64770"/>
                  </a:lnTo>
                  <a:cubicBezTo>
                    <a:pt x="27206" y="70976"/>
                    <a:pt x="24388" y="77637"/>
                    <a:pt x="22479" y="84582"/>
                  </a:cubicBezTo>
                  <a:lnTo>
                    <a:pt x="0" y="95821"/>
                  </a:lnTo>
                  <a:lnTo>
                    <a:pt x="0" y="120968"/>
                  </a:lnTo>
                  <a:lnTo>
                    <a:pt x="22479" y="132302"/>
                  </a:lnTo>
                  <a:cubicBezTo>
                    <a:pt x="24332" y="139221"/>
                    <a:pt x="27052" y="145878"/>
                    <a:pt x="30575" y="152114"/>
                  </a:cubicBezTo>
                  <a:lnTo>
                    <a:pt x="22479" y="176117"/>
                  </a:lnTo>
                  <a:lnTo>
                    <a:pt x="41529" y="194405"/>
                  </a:lnTo>
                  <a:lnTo>
                    <a:pt x="65532" y="186214"/>
                  </a:lnTo>
                  <a:cubicBezTo>
                    <a:pt x="71767" y="189763"/>
                    <a:pt x="78423" y="192515"/>
                    <a:pt x="85344" y="194405"/>
                  </a:cubicBezTo>
                  <a:lnTo>
                    <a:pt x="96583" y="216789"/>
                  </a:lnTo>
                  <a:lnTo>
                    <a:pt x="122111" y="216789"/>
                  </a:lnTo>
                  <a:lnTo>
                    <a:pt x="133445" y="194786"/>
                  </a:lnTo>
                  <a:cubicBezTo>
                    <a:pt x="140245" y="192937"/>
                    <a:pt x="146800" y="190283"/>
                    <a:pt x="152972" y="186880"/>
                  </a:cubicBezTo>
                  <a:lnTo>
                    <a:pt x="176879" y="195072"/>
                  </a:lnTo>
                  <a:lnTo>
                    <a:pt x="195167" y="176689"/>
                  </a:lnTo>
                  <a:lnTo>
                    <a:pt x="187071" y="152781"/>
                  </a:lnTo>
                  <a:cubicBezTo>
                    <a:pt x="190710" y="146497"/>
                    <a:pt x="193618" y="139818"/>
                    <a:pt x="195739" y="132874"/>
                  </a:cubicBezTo>
                  <a:lnTo>
                    <a:pt x="218123" y="121634"/>
                  </a:lnTo>
                  <a:lnTo>
                    <a:pt x="218123" y="95821"/>
                  </a:lnTo>
                  <a:lnTo>
                    <a:pt x="195644" y="84487"/>
                  </a:lnTo>
                  <a:cubicBezTo>
                    <a:pt x="193825" y="77556"/>
                    <a:pt x="191103" y="70896"/>
                    <a:pt x="187547" y="64675"/>
                  </a:cubicBezTo>
                  <a:close/>
                  <a:moveTo>
                    <a:pt x="109442" y="146875"/>
                  </a:moveTo>
                  <a:cubicBezTo>
                    <a:pt x="88401" y="146875"/>
                    <a:pt x="71342" y="129817"/>
                    <a:pt x="71342" y="108775"/>
                  </a:cubicBezTo>
                  <a:cubicBezTo>
                    <a:pt x="71342" y="87734"/>
                    <a:pt x="88401" y="70675"/>
                    <a:pt x="109442" y="70675"/>
                  </a:cubicBezTo>
                  <a:cubicBezTo>
                    <a:pt x="130356" y="70982"/>
                    <a:pt x="147236" y="87861"/>
                    <a:pt x="147542" y="108775"/>
                  </a:cubicBezTo>
                  <a:cubicBezTo>
                    <a:pt x="147542" y="129817"/>
                    <a:pt x="130484" y="146875"/>
                    <a:pt x="109442" y="1468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28117339-386F-B4A3-A67F-F92C3F423823}"/>
                </a:ext>
              </a:extLst>
            </p:cNvPr>
            <p:cNvSpPr/>
            <p:nvPr/>
          </p:nvSpPr>
          <p:spPr>
            <a:xfrm>
              <a:off x="5979697" y="3684174"/>
              <a:ext cx="215744" cy="54959"/>
            </a:xfrm>
            <a:custGeom>
              <a:avLst/>
              <a:gdLst>
                <a:gd name="connsiteX0" fmla="*/ 189835 w 215744"/>
                <a:gd name="connsiteY0" fmla="*/ 0 h 54959"/>
                <a:gd name="connsiteX1" fmla="*/ 25910 w 215744"/>
                <a:gd name="connsiteY1" fmla="*/ 0 h 54959"/>
                <a:gd name="connsiteX2" fmla="*/ 48 w 215744"/>
                <a:gd name="connsiteY2" fmla="*/ 29098 h 54959"/>
                <a:gd name="connsiteX3" fmla="*/ 25910 w 215744"/>
                <a:gd name="connsiteY3" fmla="*/ 54959 h 54959"/>
                <a:gd name="connsiteX4" fmla="*/ 189835 w 215744"/>
                <a:gd name="connsiteY4" fmla="*/ 54959 h 54959"/>
                <a:gd name="connsiteX5" fmla="*/ 215696 w 215744"/>
                <a:gd name="connsiteY5" fmla="*/ 25861 h 54959"/>
                <a:gd name="connsiteX6" fmla="*/ 189835 w 215744"/>
                <a:gd name="connsiteY6" fmla="*/ 0 h 54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744" h="54959">
                  <a:moveTo>
                    <a:pt x="189835" y="0"/>
                  </a:moveTo>
                  <a:lnTo>
                    <a:pt x="25910" y="0"/>
                  </a:lnTo>
                  <a:cubicBezTo>
                    <a:pt x="10734" y="894"/>
                    <a:pt x="-845" y="13922"/>
                    <a:pt x="48" y="29098"/>
                  </a:cubicBezTo>
                  <a:cubicBezTo>
                    <a:pt x="869" y="43027"/>
                    <a:pt x="11981" y="54139"/>
                    <a:pt x="25910" y="54959"/>
                  </a:cubicBezTo>
                  <a:lnTo>
                    <a:pt x="189835" y="54959"/>
                  </a:lnTo>
                  <a:cubicBezTo>
                    <a:pt x="205011" y="54065"/>
                    <a:pt x="216590" y="41037"/>
                    <a:pt x="215696" y="25861"/>
                  </a:cubicBezTo>
                  <a:cubicBezTo>
                    <a:pt x="214875" y="11932"/>
                    <a:pt x="203763" y="820"/>
                    <a:pt x="1898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674664C-69D7-FD74-E8FB-C951D0B86109}"/>
                </a:ext>
              </a:extLst>
            </p:cNvPr>
            <p:cNvSpPr/>
            <p:nvPr/>
          </p:nvSpPr>
          <p:spPr>
            <a:xfrm>
              <a:off x="6028086" y="3777233"/>
              <a:ext cx="118967" cy="54959"/>
            </a:xfrm>
            <a:custGeom>
              <a:avLst/>
              <a:gdLst>
                <a:gd name="connsiteX0" fmla="*/ 59531 w 118967"/>
                <a:gd name="connsiteY0" fmla="*/ 54959 h 54959"/>
                <a:gd name="connsiteX1" fmla="*/ 118967 w 118967"/>
                <a:gd name="connsiteY1" fmla="*/ 0 h 54959"/>
                <a:gd name="connsiteX2" fmla="*/ 0 w 118967"/>
                <a:gd name="connsiteY2" fmla="*/ 0 h 54959"/>
                <a:gd name="connsiteX3" fmla="*/ 59531 w 118967"/>
                <a:gd name="connsiteY3" fmla="*/ 54959 h 54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967" h="54959">
                  <a:moveTo>
                    <a:pt x="59531" y="54959"/>
                  </a:moveTo>
                  <a:cubicBezTo>
                    <a:pt x="90631" y="54910"/>
                    <a:pt x="116487" y="31001"/>
                    <a:pt x="118967" y="0"/>
                  </a:cubicBezTo>
                  <a:lnTo>
                    <a:pt x="0" y="0"/>
                  </a:lnTo>
                  <a:cubicBezTo>
                    <a:pt x="2527" y="31016"/>
                    <a:pt x="28413" y="54914"/>
                    <a:pt x="59531" y="549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5033863-A807-C9CA-19A9-E3ED8B47678E}"/>
                </a:ext>
              </a:extLst>
            </p:cNvPr>
            <p:cNvSpPr/>
            <p:nvPr/>
          </p:nvSpPr>
          <p:spPr>
            <a:xfrm>
              <a:off x="5849207" y="3152013"/>
              <a:ext cx="476249" cy="494061"/>
            </a:xfrm>
            <a:custGeom>
              <a:avLst/>
              <a:gdLst>
                <a:gd name="connsiteX0" fmla="*/ 476250 w 476249"/>
                <a:gd name="connsiteY0" fmla="*/ 243364 h 494061"/>
                <a:gd name="connsiteX1" fmla="*/ 476250 w 476249"/>
                <a:gd name="connsiteY1" fmla="*/ 235172 h 494061"/>
                <a:gd name="connsiteX2" fmla="*/ 238125 w 476249"/>
                <a:gd name="connsiteY2" fmla="*/ 0 h 494061"/>
                <a:gd name="connsiteX3" fmla="*/ 238125 w 476249"/>
                <a:gd name="connsiteY3" fmla="*/ 0 h 494061"/>
                <a:gd name="connsiteX4" fmla="*/ 0 w 476249"/>
                <a:gd name="connsiteY4" fmla="*/ 235172 h 494061"/>
                <a:gd name="connsiteX5" fmla="*/ 0 w 476249"/>
                <a:gd name="connsiteY5" fmla="*/ 243364 h 494061"/>
                <a:gd name="connsiteX6" fmla="*/ 16573 w 476249"/>
                <a:gd name="connsiteY6" fmla="*/ 325755 h 494061"/>
                <a:gd name="connsiteX7" fmla="*/ 57912 w 476249"/>
                <a:gd name="connsiteY7" fmla="*/ 393478 h 494061"/>
                <a:gd name="connsiteX8" fmla="*/ 113633 w 476249"/>
                <a:gd name="connsiteY8" fmla="*/ 483965 h 494061"/>
                <a:gd name="connsiteX9" fmla="*/ 130016 w 476249"/>
                <a:gd name="connsiteY9" fmla="*/ 494062 h 494061"/>
                <a:gd name="connsiteX10" fmla="*/ 346234 w 476249"/>
                <a:gd name="connsiteY10" fmla="*/ 494062 h 494061"/>
                <a:gd name="connsiteX11" fmla="*/ 362617 w 476249"/>
                <a:gd name="connsiteY11" fmla="*/ 483965 h 494061"/>
                <a:gd name="connsiteX12" fmla="*/ 418338 w 476249"/>
                <a:gd name="connsiteY12" fmla="*/ 393478 h 494061"/>
                <a:gd name="connsiteX13" fmla="*/ 459676 w 476249"/>
                <a:gd name="connsiteY13" fmla="*/ 325755 h 494061"/>
                <a:gd name="connsiteX14" fmla="*/ 476250 w 476249"/>
                <a:gd name="connsiteY14" fmla="*/ 243364 h 494061"/>
                <a:gd name="connsiteX15" fmla="*/ 421386 w 476249"/>
                <a:gd name="connsiteY15" fmla="*/ 242507 h 494061"/>
                <a:gd name="connsiteX16" fmla="*/ 408718 w 476249"/>
                <a:gd name="connsiteY16" fmla="*/ 306515 h 494061"/>
                <a:gd name="connsiteX17" fmla="*/ 377857 w 476249"/>
                <a:gd name="connsiteY17" fmla="*/ 356807 h 494061"/>
                <a:gd name="connsiteX18" fmla="*/ 323850 w 476249"/>
                <a:gd name="connsiteY18" fmla="*/ 438912 h 494061"/>
                <a:gd name="connsiteX19" fmla="*/ 152400 w 476249"/>
                <a:gd name="connsiteY19" fmla="*/ 438912 h 494061"/>
                <a:gd name="connsiteX20" fmla="*/ 98870 w 476249"/>
                <a:gd name="connsiteY20" fmla="*/ 356521 h 494061"/>
                <a:gd name="connsiteX21" fmla="*/ 68008 w 476249"/>
                <a:gd name="connsiteY21" fmla="*/ 306229 h 494061"/>
                <a:gd name="connsiteX22" fmla="*/ 54864 w 476249"/>
                <a:gd name="connsiteY22" fmla="*/ 242221 h 494061"/>
                <a:gd name="connsiteX23" fmla="*/ 54864 w 476249"/>
                <a:gd name="connsiteY23" fmla="*/ 235363 h 494061"/>
                <a:gd name="connsiteX24" fmla="*/ 237839 w 476249"/>
                <a:gd name="connsiteY24" fmla="*/ 54388 h 494061"/>
                <a:gd name="connsiteX25" fmla="*/ 237839 w 476249"/>
                <a:gd name="connsiteY25" fmla="*/ 54388 h 494061"/>
                <a:gd name="connsiteX26" fmla="*/ 420814 w 476249"/>
                <a:gd name="connsiteY26" fmla="*/ 235363 h 49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76249" h="494061">
                  <a:moveTo>
                    <a:pt x="476250" y="243364"/>
                  </a:moveTo>
                  <a:lnTo>
                    <a:pt x="476250" y="235172"/>
                  </a:lnTo>
                  <a:cubicBezTo>
                    <a:pt x="473823" y="105160"/>
                    <a:pt x="368157" y="804"/>
                    <a:pt x="238125" y="0"/>
                  </a:cubicBezTo>
                  <a:lnTo>
                    <a:pt x="238125" y="0"/>
                  </a:lnTo>
                  <a:cubicBezTo>
                    <a:pt x="108093" y="804"/>
                    <a:pt x="2427" y="105160"/>
                    <a:pt x="0" y="235172"/>
                  </a:cubicBezTo>
                  <a:lnTo>
                    <a:pt x="0" y="243364"/>
                  </a:lnTo>
                  <a:cubicBezTo>
                    <a:pt x="871" y="271562"/>
                    <a:pt x="6473" y="299414"/>
                    <a:pt x="16573" y="325755"/>
                  </a:cubicBezTo>
                  <a:cubicBezTo>
                    <a:pt x="26214" y="350609"/>
                    <a:pt x="40213" y="373543"/>
                    <a:pt x="57912" y="393478"/>
                  </a:cubicBezTo>
                  <a:cubicBezTo>
                    <a:pt x="79724" y="417195"/>
                    <a:pt x="103537" y="463391"/>
                    <a:pt x="113633" y="483965"/>
                  </a:cubicBezTo>
                  <a:cubicBezTo>
                    <a:pt x="116721" y="490180"/>
                    <a:pt x="123076" y="494096"/>
                    <a:pt x="130016" y="494062"/>
                  </a:cubicBezTo>
                  <a:lnTo>
                    <a:pt x="346234" y="494062"/>
                  </a:lnTo>
                  <a:cubicBezTo>
                    <a:pt x="353174" y="494096"/>
                    <a:pt x="359529" y="490180"/>
                    <a:pt x="362617" y="483965"/>
                  </a:cubicBezTo>
                  <a:cubicBezTo>
                    <a:pt x="372713" y="463391"/>
                    <a:pt x="396526" y="417290"/>
                    <a:pt x="418338" y="393478"/>
                  </a:cubicBezTo>
                  <a:cubicBezTo>
                    <a:pt x="436037" y="373543"/>
                    <a:pt x="450036" y="350609"/>
                    <a:pt x="459676" y="325755"/>
                  </a:cubicBezTo>
                  <a:cubicBezTo>
                    <a:pt x="469777" y="299414"/>
                    <a:pt x="475379" y="271562"/>
                    <a:pt x="476250" y="243364"/>
                  </a:cubicBezTo>
                  <a:close/>
                  <a:moveTo>
                    <a:pt x="421386" y="242507"/>
                  </a:moveTo>
                  <a:cubicBezTo>
                    <a:pt x="420709" y="264394"/>
                    <a:pt x="416429" y="286020"/>
                    <a:pt x="408718" y="306515"/>
                  </a:cubicBezTo>
                  <a:cubicBezTo>
                    <a:pt x="401485" y="324971"/>
                    <a:pt x="391037" y="341999"/>
                    <a:pt x="377857" y="356807"/>
                  </a:cubicBezTo>
                  <a:cubicBezTo>
                    <a:pt x="356714" y="381975"/>
                    <a:pt x="338588" y="409531"/>
                    <a:pt x="323850" y="438912"/>
                  </a:cubicBezTo>
                  <a:lnTo>
                    <a:pt x="152400" y="438912"/>
                  </a:lnTo>
                  <a:cubicBezTo>
                    <a:pt x="137831" y="409455"/>
                    <a:pt x="119864" y="381803"/>
                    <a:pt x="98870" y="356521"/>
                  </a:cubicBezTo>
                  <a:cubicBezTo>
                    <a:pt x="85690" y="341713"/>
                    <a:pt x="75241" y="324685"/>
                    <a:pt x="68008" y="306229"/>
                  </a:cubicBezTo>
                  <a:cubicBezTo>
                    <a:pt x="60135" y="285761"/>
                    <a:pt x="55694" y="264135"/>
                    <a:pt x="54864" y="242221"/>
                  </a:cubicBezTo>
                  <a:lnTo>
                    <a:pt x="54864" y="235363"/>
                  </a:lnTo>
                  <a:cubicBezTo>
                    <a:pt x="56570" y="135350"/>
                    <a:pt x="137813" y="54995"/>
                    <a:pt x="237839" y="54388"/>
                  </a:cubicBezTo>
                  <a:lnTo>
                    <a:pt x="237839" y="54388"/>
                  </a:lnTo>
                  <a:cubicBezTo>
                    <a:pt x="337865" y="54995"/>
                    <a:pt x="419109" y="135350"/>
                    <a:pt x="420814" y="2353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E5A26DAC-B8E4-8751-661A-29C4C74C1C85}"/>
                </a:ext>
              </a:extLst>
            </p:cNvPr>
            <p:cNvSpPr/>
            <p:nvPr/>
          </p:nvSpPr>
          <p:spPr>
            <a:xfrm>
              <a:off x="6070377" y="3009900"/>
              <a:ext cx="38100" cy="104775"/>
            </a:xfrm>
            <a:custGeom>
              <a:avLst/>
              <a:gdLst>
                <a:gd name="connsiteX0" fmla="*/ 19050 w 38100"/>
                <a:gd name="connsiteY0" fmla="*/ 104775 h 104775"/>
                <a:gd name="connsiteX1" fmla="*/ 38100 w 38100"/>
                <a:gd name="connsiteY1" fmla="*/ 85725 h 104775"/>
                <a:gd name="connsiteX2" fmla="*/ 38100 w 38100"/>
                <a:gd name="connsiteY2" fmla="*/ 19050 h 104775"/>
                <a:gd name="connsiteX3" fmla="*/ 19050 w 38100"/>
                <a:gd name="connsiteY3" fmla="*/ 0 h 104775"/>
                <a:gd name="connsiteX4" fmla="*/ 0 w 38100"/>
                <a:gd name="connsiteY4" fmla="*/ 19050 h 104775"/>
                <a:gd name="connsiteX5" fmla="*/ 0 w 38100"/>
                <a:gd name="connsiteY5" fmla="*/ 85725 h 104775"/>
                <a:gd name="connsiteX6" fmla="*/ 19050 w 38100"/>
                <a:gd name="connsiteY6" fmla="*/ 10477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104775">
                  <a:moveTo>
                    <a:pt x="19050" y="104775"/>
                  </a:moveTo>
                  <a:cubicBezTo>
                    <a:pt x="29571" y="104775"/>
                    <a:pt x="38100" y="96246"/>
                    <a:pt x="38100" y="85725"/>
                  </a:cubicBezTo>
                  <a:lnTo>
                    <a:pt x="38100" y="19050"/>
                  </a:ln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  <a:lnTo>
                    <a:pt x="0" y="85725"/>
                  </a:lnTo>
                  <a:cubicBezTo>
                    <a:pt x="0" y="96246"/>
                    <a:pt x="8529" y="104775"/>
                    <a:pt x="19050" y="1047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FFDC4611-B225-B94D-FDC8-61479951D859}"/>
                </a:ext>
              </a:extLst>
            </p:cNvPr>
            <p:cNvSpPr/>
            <p:nvPr/>
          </p:nvSpPr>
          <p:spPr>
            <a:xfrm>
              <a:off x="5811294" y="3119289"/>
              <a:ext cx="84504" cy="84649"/>
            </a:xfrm>
            <a:custGeom>
              <a:avLst/>
              <a:gdLst>
                <a:gd name="connsiteX0" fmla="*/ 52105 w 84504"/>
                <a:gd name="connsiteY0" fmla="*/ 79111 h 84649"/>
                <a:gd name="connsiteX1" fmla="*/ 78965 w 84504"/>
                <a:gd name="connsiteY1" fmla="*/ 79111 h 84649"/>
                <a:gd name="connsiteX2" fmla="*/ 78965 w 84504"/>
                <a:gd name="connsiteY2" fmla="*/ 52250 h 84649"/>
                <a:gd name="connsiteX3" fmla="*/ 31817 w 84504"/>
                <a:gd name="connsiteY3" fmla="*/ 4911 h 84649"/>
                <a:gd name="connsiteX4" fmla="*/ 4910 w 84504"/>
                <a:gd name="connsiteY4" fmla="*/ 6283 h 84649"/>
                <a:gd name="connsiteX5" fmla="*/ 4956 w 84504"/>
                <a:gd name="connsiteY5" fmla="*/ 31866 h 84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04" h="84649">
                  <a:moveTo>
                    <a:pt x="52105" y="79111"/>
                  </a:moveTo>
                  <a:cubicBezTo>
                    <a:pt x="59535" y="86496"/>
                    <a:pt x="71535" y="86496"/>
                    <a:pt x="78965" y="79111"/>
                  </a:cubicBezTo>
                  <a:cubicBezTo>
                    <a:pt x="86351" y="71680"/>
                    <a:pt x="86351" y="59680"/>
                    <a:pt x="78965" y="52250"/>
                  </a:cubicBezTo>
                  <a:lnTo>
                    <a:pt x="31817" y="4911"/>
                  </a:lnTo>
                  <a:cubicBezTo>
                    <a:pt x="24008" y="-2140"/>
                    <a:pt x="11962" y="-1525"/>
                    <a:pt x="4910" y="6283"/>
                  </a:cubicBezTo>
                  <a:cubicBezTo>
                    <a:pt x="-1654" y="13555"/>
                    <a:pt x="-1634" y="24619"/>
                    <a:pt x="4956" y="318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6897C675-1100-54AA-7220-EF683623A852}"/>
                </a:ext>
              </a:extLst>
            </p:cNvPr>
            <p:cNvSpPr/>
            <p:nvPr/>
          </p:nvSpPr>
          <p:spPr>
            <a:xfrm>
              <a:off x="6282865" y="3124231"/>
              <a:ext cx="83603" cy="83426"/>
            </a:xfrm>
            <a:custGeom>
              <a:avLst/>
              <a:gdLst>
                <a:gd name="connsiteX0" fmla="*/ 19446 w 83603"/>
                <a:gd name="connsiteY0" fmla="*/ 83407 h 83426"/>
                <a:gd name="connsiteX1" fmla="*/ 32971 w 83603"/>
                <a:gd name="connsiteY1" fmla="*/ 77787 h 83426"/>
                <a:gd name="connsiteX2" fmla="*/ 80025 w 83603"/>
                <a:gd name="connsiteY2" fmla="*/ 30162 h 83426"/>
                <a:gd name="connsiteX3" fmla="*/ 75664 w 83603"/>
                <a:gd name="connsiteY3" fmla="*/ 3577 h 83426"/>
                <a:gd name="connsiteX4" fmla="*/ 53164 w 83603"/>
                <a:gd name="connsiteY4" fmla="*/ 3778 h 83426"/>
                <a:gd name="connsiteX5" fmla="*/ 5539 w 83603"/>
                <a:gd name="connsiteY5" fmla="*/ 51403 h 83426"/>
                <a:gd name="connsiteX6" fmla="*/ 5539 w 83603"/>
                <a:gd name="connsiteY6" fmla="*/ 78264 h 83426"/>
                <a:gd name="connsiteX7" fmla="*/ 19446 w 83603"/>
                <a:gd name="connsiteY7" fmla="*/ 83407 h 8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603" h="83426">
                  <a:moveTo>
                    <a:pt x="19446" y="83407"/>
                  </a:moveTo>
                  <a:cubicBezTo>
                    <a:pt x="24523" y="83411"/>
                    <a:pt x="29392" y="81388"/>
                    <a:pt x="32971" y="77787"/>
                  </a:cubicBezTo>
                  <a:lnTo>
                    <a:pt x="80025" y="30162"/>
                  </a:lnTo>
                  <a:cubicBezTo>
                    <a:pt x="86162" y="21617"/>
                    <a:pt x="84210" y="9714"/>
                    <a:pt x="75664" y="3577"/>
                  </a:cubicBezTo>
                  <a:cubicBezTo>
                    <a:pt x="68922" y="-1265"/>
                    <a:pt x="59819" y="-1184"/>
                    <a:pt x="53164" y="3778"/>
                  </a:cubicBezTo>
                  <a:lnTo>
                    <a:pt x="5539" y="51403"/>
                  </a:lnTo>
                  <a:cubicBezTo>
                    <a:pt x="-1846" y="58834"/>
                    <a:pt x="-1846" y="70833"/>
                    <a:pt x="5539" y="78264"/>
                  </a:cubicBezTo>
                  <a:cubicBezTo>
                    <a:pt x="9290" y="81786"/>
                    <a:pt x="14306" y="83641"/>
                    <a:pt x="19446" y="8340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E776B4D3-64A7-8804-EB5E-0E13E8CD2DDF}"/>
                </a:ext>
              </a:extLst>
            </p:cNvPr>
            <p:cNvSpPr/>
            <p:nvPr/>
          </p:nvSpPr>
          <p:spPr>
            <a:xfrm>
              <a:off x="5707856" y="3367087"/>
              <a:ext cx="104775" cy="38100"/>
            </a:xfrm>
            <a:custGeom>
              <a:avLst/>
              <a:gdLst>
                <a:gd name="connsiteX0" fmla="*/ 85725 w 104775"/>
                <a:gd name="connsiteY0" fmla="*/ 0 h 38100"/>
                <a:gd name="connsiteX1" fmla="*/ 19050 w 104775"/>
                <a:gd name="connsiteY1" fmla="*/ 0 h 38100"/>
                <a:gd name="connsiteX2" fmla="*/ 0 w 104775"/>
                <a:gd name="connsiteY2" fmla="*/ 19050 h 38100"/>
                <a:gd name="connsiteX3" fmla="*/ 19050 w 104775"/>
                <a:gd name="connsiteY3" fmla="*/ 38100 h 38100"/>
                <a:gd name="connsiteX4" fmla="*/ 85725 w 104775"/>
                <a:gd name="connsiteY4" fmla="*/ 38100 h 38100"/>
                <a:gd name="connsiteX5" fmla="*/ 104775 w 104775"/>
                <a:gd name="connsiteY5" fmla="*/ 19050 h 38100"/>
                <a:gd name="connsiteX6" fmla="*/ 85725 w 104775"/>
                <a:gd name="connsiteY6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75" h="38100">
                  <a:moveTo>
                    <a:pt x="85725" y="0"/>
                  </a:moveTo>
                  <a:lnTo>
                    <a:pt x="19050" y="0"/>
                  </a:lnTo>
                  <a:cubicBezTo>
                    <a:pt x="8529" y="0"/>
                    <a:pt x="0" y="8529"/>
                    <a:pt x="0" y="19050"/>
                  </a:cubicBezTo>
                  <a:cubicBezTo>
                    <a:pt x="0" y="29571"/>
                    <a:pt x="8529" y="38100"/>
                    <a:pt x="19050" y="38100"/>
                  </a:cubicBezTo>
                  <a:lnTo>
                    <a:pt x="85725" y="38100"/>
                  </a:lnTo>
                  <a:cubicBezTo>
                    <a:pt x="96246" y="38100"/>
                    <a:pt x="104775" y="29571"/>
                    <a:pt x="104775" y="19050"/>
                  </a:cubicBezTo>
                  <a:cubicBezTo>
                    <a:pt x="104775" y="8529"/>
                    <a:pt x="96246" y="0"/>
                    <a:pt x="8572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DD200522-9C84-CCEA-D61D-CF7FA451EC0B}"/>
                </a:ext>
              </a:extLst>
            </p:cNvPr>
            <p:cNvSpPr/>
            <p:nvPr/>
          </p:nvSpPr>
          <p:spPr>
            <a:xfrm>
              <a:off x="5809591" y="3568627"/>
              <a:ext cx="85249" cy="85725"/>
            </a:xfrm>
            <a:custGeom>
              <a:avLst/>
              <a:gdLst>
                <a:gd name="connsiteX0" fmla="*/ 53808 w 85249"/>
                <a:gd name="connsiteY0" fmla="*/ 4581 h 85725"/>
                <a:gd name="connsiteX1" fmla="*/ 6659 w 85249"/>
                <a:gd name="connsiteY1" fmla="*/ 52206 h 85725"/>
                <a:gd name="connsiteX2" fmla="*/ 4581 w 85249"/>
                <a:gd name="connsiteY2" fmla="*/ 79066 h 85725"/>
                <a:gd name="connsiteX3" fmla="*/ 31442 w 85249"/>
                <a:gd name="connsiteY3" fmla="*/ 81144 h 85725"/>
                <a:gd name="connsiteX4" fmla="*/ 33520 w 85249"/>
                <a:gd name="connsiteY4" fmla="*/ 79066 h 85725"/>
                <a:gd name="connsiteX5" fmla="*/ 80669 w 85249"/>
                <a:gd name="connsiteY5" fmla="*/ 31441 h 85725"/>
                <a:gd name="connsiteX6" fmla="*/ 78590 w 85249"/>
                <a:gd name="connsiteY6" fmla="*/ 4581 h 85725"/>
                <a:gd name="connsiteX7" fmla="*/ 53808 w 85249"/>
                <a:gd name="connsiteY7" fmla="*/ 458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249" h="85725">
                  <a:moveTo>
                    <a:pt x="53808" y="4581"/>
                  </a:moveTo>
                  <a:lnTo>
                    <a:pt x="6659" y="52206"/>
                  </a:lnTo>
                  <a:cubicBezTo>
                    <a:pt x="-1332" y="59049"/>
                    <a:pt x="-2263" y="71075"/>
                    <a:pt x="4581" y="79066"/>
                  </a:cubicBezTo>
                  <a:cubicBezTo>
                    <a:pt x="11425" y="87058"/>
                    <a:pt x="23451" y="87987"/>
                    <a:pt x="31442" y="81144"/>
                  </a:cubicBezTo>
                  <a:cubicBezTo>
                    <a:pt x="32187" y="80506"/>
                    <a:pt x="32882" y="79811"/>
                    <a:pt x="33520" y="79066"/>
                  </a:cubicBezTo>
                  <a:lnTo>
                    <a:pt x="80669" y="31441"/>
                  </a:lnTo>
                  <a:cubicBezTo>
                    <a:pt x="87512" y="23450"/>
                    <a:pt x="86582" y="11424"/>
                    <a:pt x="78590" y="4581"/>
                  </a:cubicBezTo>
                  <a:cubicBezTo>
                    <a:pt x="71459" y="-1527"/>
                    <a:pt x="60941" y="-1527"/>
                    <a:pt x="53808" y="45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50F424EF-2722-35E1-F7C6-46D437093DF4}"/>
                </a:ext>
              </a:extLst>
            </p:cNvPr>
            <p:cNvSpPr/>
            <p:nvPr/>
          </p:nvSpPr>
          <p:spPr>
            <a:xfrm>
              <a:off x="6282647" y="3563305"/>
              <a:ext cx="87546" cy="87626"/>
            </a:xfrm>
            <a:custGeom>
              <a:avLst/>
              <a:gdLst>
                <a:gd name="connsiteX0" fmla="*/ 33190 w 87546"/>
                <a:gd name="connsiteY0" fmla="*/ 6283 h 87626"/>
                <a:gd name="connsiteX1" fmla="*/ 6283 w 87546"/>
                <a:gd name="connsiteY1" fmla="*/ 4911 h 87626"/>
                <a:gd name="connsiteX2" fmla="*/ 4911 w 87546"/>
                <a:gd name="connsiteY2" fmla="*/ 31817 h 87626"/>
                <a:gd name="connsiteX3" fmla="*/ 6234 w 87546"/>
                <a:gd name="connsiteY3" fmla="*/ 33144 h 87626"/>
                <a:gd name="connsiteX4" fmla="*/ 53859 w 87546"/>
                <a:gd name="connsiteY4" fmla="*/ 80769 h 87626"/>
                <a:gd name="connsiteX5" fmla="*/ 80689 w 87546"/>
                <a:gd name="connsiteY5" fmla="*/ 83213 h 87626"/>
                <a:gd name="connsiteX6" fmla="*/ 83133 w 87546"/>
                <a:gd name="connsiteY6" fmla="*/ 56384 h 87626"/>
                <a:gd name="connsiteX7" fmla="*/ 80052 w 87546"/>
                <a:gd name="connsiteY7" fmla="*/ 53432 h 87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546" h="87626">
                  <a:moveTo>
                    <a:pt x="33190" y="6283"/>
                  </a:moveTo>
                  <a:cubicBezTo>
                    <a:pt x="26139" y="-1525"/>
                    <a:pt x="14093" y="-2140"/>
                    <a:pt x="6283" y="4911"/>
                  </a:cubicBezTo>
                  <a:cubicBezTo>
                    <a:pt x="-1525" y="11961"/>
                    <a:pt x="-2140" y="24007"/>
                    <a:pt x="4911" y="31817"/>
                  </a:cubicBezTo>
                  <a:cubicBezTo>
                    <a:pt x="5330" y="32280"/>
                    <a:pt x="5772" y="32724"/>
                    <a:pt x="6234" y="33144"/>
                  </a:cubicBezTo>
                  <a:lnTo>
                    <a:pt x="53859" y="80769"/>
                  </a:lnTo>
                  <a:cubicBezTo>
                    <a:pt x="60593" y="88853"/>
                    <a:pt x="72605" y="89947"/>
                    <a:pt x="80689" y="83213"/>
                  </a:cubicBezTo>
                  <a:cubicBezTo>
                    <a:pt x="88773" y="76480"/>
                    <a:pt x="89866" y="64468"/>
                    <a:pt x="83133" y="56384"/>
                  </a:cubicBezTo>
                  <a:cubicBezTo>
                    <a:pt x="82219" y="55288"/>
                    <a:pt x="81187" y="54298"/>
                    <a:pt x="80052" y="53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E33765D-6F78-ED6D-0337-30E9A0EFA86A}"/>
                </a:ext>
              </a:extLst>
            </p:cNvPr>
            <p:cNvSpPr/>
            <p:nvPr/>
          </p:nvSpPr>
          <p:spPr>
            <a:xfrm>
              <a:off x="6362700" y="3366420"/>
              <a:ext cx="104775" cy="38100"/>
            </a:xfrm>
            <a:custGeom>
              <a:avLst/>
              <a:gdLst>
                <a:gd name="connsiteX0" fmla="*/ 85725 w 104775"/>
                <a:gd name="connsiteY0" fmla="*/ 0 h 38100"/>
                <a:gd name="connsiteX1" fmla="*/ 19050 w 104775"/>
                <a:gd name="connsiteY1" fmla="*/ 0 h 38100"/>
                <a:gd name="connsiteX2" fmla="*/ 0 w 104775"/>
                <a:gd name="connsiteY2" fmla="*/ 19050 h 38100"/>
                <a:gd name="connsiteX3" fmla="*/ 19050 w 104775"/>
                <a:gd name="connsiteY3" fmla="*/ 38100 h 38100"/>
                <a:gd name="connsiteX4" fmla="*/ 85725 w 104775"/>
                <a:gd name="connsiteY4" fmla="*/ 38100 h 38100"/>
                <a:gd name="connsiteX5" fmla="*/ 104775 w 104775"/>
                <a:gd name="connsiteY5" fmla="*/ 19050 h 38100"/>
                <a:gd name="connsiteX6" fmla="*/ 85725 w 104775"/>
                <a:gd name="connsiteY6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75" h="38100">
                  <a:moveTo>
                    <a:pt x="85725" y="0"/>
                  </a:moveTo>
                  <a:lnTo>
                    <a:pt x="19050" y="0"/>
                  </a:lnTo>
                  <a:cubicBezTo>
                    <a:pt x="8529" y="0"/>
                    <a:pt x="0" y="8529"/>
                    <a:pt x="0" y="19050"/>
                  </a:cubicBezTo>
                  <a:cubicBezTo>
                    <a:pt x="0" y="29571"/>
                    <a:pt x="8529" y="38100"/>
                    <a:pt x="19050" y="38100"/>
                  </a:cubicBezTo>
                  <a:lnTo>
                    <a:pt x="85725" y="38100"/>
                  </a:lnTo>
                  <a:cubicBezTo>
                    <a:pt x="96246" y="38100"/>
                    <a:pt x="104775" y="29571"/>
                    <a:pt x="104775" y="19050"/>
                  </a:cubicBezTo>
                  <a:cubicBezTo>
                    <a:pt x="104775" y="8529"/>
                    <a:pt x="96246" y="0"/>
                    <a:pt x="8572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84828CD-310B-0EAB-6246-4377B09C112C}"/>
              </a:ext>
            </a:extLst>
          </p:cNvPr>
          <p:cNvSpPr/>
          <p:nvPr/>
        </p:nvSpPr>
        <p:spPr>
          <a:xfrm>
            <a:off x="11091553" y="6448301"/>
            <a:ext cx="1100447" cy="409699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8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625277"/>
            <a:ext cx="391735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Significant Predictors</a:t>
            </a:r>
            <a:endParaRPr lang="en-US" sz="2600" dirty="0">
              <a:latin typeface="Helvetica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574" y="1305242"/>
            <a:ext cx="10868547" cy="678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7 out of 31 predictors were significant</a:t>
            </a:r>
            <a:r>
              <a:rPr lang="en-US" sz="14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 — representing 22.6% of all tested variables. The bar chart below illustrates the proportion of significant versus non-significant predictors across the full variable set.</a:t>
            </a:r>
            <a:endParaRPr lang="en-US" sz="1400" dirty="0">
              <a:latin typeface="Helvetica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045" y="2250548"/>
            <a:ext cx="6041910" cy="3383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574" y="5930821"/>
            <a:ext cx="10077546" cy="678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Significant predictors spanned all four categories — lipids, hormones, and antioxidants — with the strongest signals emerging from lipid and </a:t>
            </a:r>
          </a:p>
          <a:p>
            <a:pPr marL="0" indent="0" algn="just">
              <a:lnSpc>
                <a:spcPct val="113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antioxidant variables.</a:t>
            </a:r>
            <a:endParaRPr lang="en-US" sz="1400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203AE-7AB0-2F61-2C60-FB605D94AC9A}"/>
              </a:ext>
            </a:extLst>
          </p:cNvPr>
          <p:cNvSpPr/>
          <p:nvPr/>
        </p:nvSpPr>
        <p:spPr>
          <a:xfrm>
            <a:off x="11091553" y="6448301"/>
            <a:ext cx="1100447" cy="409699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5979" y="567531"/>
            <a:ext cx="5215998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Odds Ratios — Forest Plot</a:t>
            </a:r>
            <a:endParaRPr lang="en-US" sz="3300" dirty="0">
              <a:latin typeface="Helvetica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55979" y="1991816"/>
            <a:ext cx="4634491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6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The forest plot below displays univariate odds ratios with 95% confidence intervals for all significant predictors. Values above 1.0 indicate risk factors; values below 1.0 indicate protective factors. The vertical line at OR = 1.0 represents no effect.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55979" y="3433465"/>
            <a:ext cx="4634491" cy="1117798"/>
          </a:xfrm>
          <a:prstGeom prst="roundRect">
            <a:avLst>
              <a:gd name="adj" fmla="val 6325"/>
            </a:avLst>
          </a:prstGeom>
          <a:solidFill>
            <a:srgbClr val="E1D4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250" y="3687068"/>
            <a:ext cx="210338" cy="1682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02859" y="3610471"/>
            <a:ext cx="391934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Risk Factors (OR &gt; 1):</a:t>
            </a: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 antioxidant5 (OR = 2.424, p = 0.0009), lipids2 (OR = 1.390, p = 0.0001), lipids4 (OR = 1.374, p = 0.0004)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255979" y="4719935"/>
            <a:ext cx="4634491" cy="863203"/>
          </a:xfrm>
          <a:prstGeom prst="roundRect">
            <a:avLst>
              <a:gd name="adj" fmla="val 819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250" y="4973538"/>
            <a:ext cx="210338" cy="1682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02859" y="4896941"/>
            <a:ext cx="391934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Protective Factor (OR &lt; 1):</a:t>
            </a: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 hormone8 (OR = 0.996, p = 0.0003)</a:t>
            </a:r>
            <a:endParaRPr lang="en-US" sz="1300" dirty="0">
              <a:latin typeface="Helvetica" pitchFamily="2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575" y="1487091"/>
            <a:ext cx="4634491" cy="463460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C023139-3121-408D-7D9A-062EDA8FE4D0}"/>
              </a:ext>
            </a:extLst>
          </p:cNvPr>
          <p:cNvSpPr/>
          <p:nvPr/>
        </p:nvSpPr>
        <p:spPr>
          <a:xfrm>
            <a:off x="11091553" y="6448301"/>
            <a:ext cx="1100447" cy="409699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83704"/>
            <a:ext cx="5098724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Results Table</a:t>
            </a:r>
            <a:endParaRPr lang="en-US" sz="3500" dirty="0">
              <a:latin typeface="Helvetica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574" y="1485999"/>
            <a:ext cx="1086854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Univariate logistic regression results for all significant predictors (p &lt; 0.05). Odds ratios, 95% confidence intervals, and p-values are presented below.</a:t>
            </a:r>
            <a:endParaRPr lang="en-US" sz="1400" dirty="0">
              <a:latin typeface="Helvetic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76663" y="2503459"/>
            <a:ext cx="8218265" cy="3770837"/>
          </a:xfrm>
          <a:prstGeom prst="roundRect">
            <a:avLst>
              <a:gd name="adj" fmla="val 186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62593" y="2618454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79730" y="2618454"/>
            <a:ext cx="241542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50880" y="2618454"/>
            <a:ext cx="35009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95% CI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61074" y="2618454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p-value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62593" y="3122187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antioxidant5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88290" y="3122187"/>
            <a:ext cx="241542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2.424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78160" y="3122187"/>
            <a:ext cx="35009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1.426–4.069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61074" y="3122187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0.0009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62593" y="3625921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lipids2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88290" y="3625921"/>
            <a:ext cx="241542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1.390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78160" y="3625921"/>
            <a:ext cx="35009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1.172–1.648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61074" y="3625921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0.0001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62593" y="4129655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lipids4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88290" y="4129655"/>
            <a:ext cx="241542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1.374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78160" y="4129655"/>
            <a:ext cx="35009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1.150–1.637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61074" y="4129655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0.0004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62593" y="4633388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antioxidant4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88290" y="4633388"/>
            <a:ext cx="241542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1.081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78160" y="4633388"/>
            <a:ext cx="35009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1.028–1.136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61074" y="4633388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0.0021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262593" y="5137122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hormone8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88290" y="5137122"/>
            <a:ext cx="241542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78160" y="5137122"/>
            <a:ext cx="35009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0.993–0.998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61074" y="5137122"/>
            <a:ext cx="296140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0.0003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95BEBF-1C18-960F-FA42-329E38A0E51F}"/>
              </a:ext>
            </a:extLst>
          </p:cNvPr>
          <p:cNvSpPr/>
          <p:nvPr/>
        </p:nvSpPr>
        <p:spPr>
          <a:xfrm>
            <a:off x="11091553" y="6448301"/>
            <a:ext cx="1100447" cy="409699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37890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Final Model</a:t>
            </a:r>
            <a:endParaRPr lang="en-US" sz="3700" dirty="0">
              <a:latin typeface="Helvetica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4232" y="1801019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Final Equation</a:t>
            </a:r>
            <a:endParaRPr lang="en-US" sz="1850" dirty="0">
              <a:latin typeface="Helvetic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574" y="2308920"/>
            <a:ext cx="5203695" cy="3598466"/>
          </a:xfrm>
          <a:prstGeom prst="roundRect">
            <a:avLst>
              <a:gd name="adj" fmla="val 2561"/>
            </a:avLst>
          </a:prstGeom>
          <a:solidFill>
            <a:srgbClr val="E1D4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81" y="2602012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822" y="2526209"/>
            <a:ext cx="4400440" cy="266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log(p/(1-p)) = −3.636</a:t>
            </a:r>
            <a:endParaRPr lang="en-US" dirty="0">
              <a:latin typeface="Helvetica" pitchFamily="2" charset="0"/>
            </a:endParaRPr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+ 0.283(lipids2)</a:t>
            </a:r>
            <a:endParaRPr lang="en-US" dirty="0">
              <a:latin typeface="Helvetica" pitchFamily="2" charset="0"/>
            </a:endParaRPr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− 0.004(hormone8)</a:t>
            </a:r>
            <a:endParaRPr lang="en-US" dirty="0">
              <a:latin typeface="Helvetica" pitchFamily="2" charset="0"/>
            </a:endParaRPr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+ 0.056(lipids4)</a:t>
            </a:r>
            <a:endParaRPr lang="en-US" dirty="0">
              <a:latin typeface="Helvetica" pitchFamily="2" charset="0"/>
            </a:endParaRPr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+ 0.705(antioxidant5)</a:t>
            </a:r>
            <a:endParaRPr lang="en-US" dirty="0">
              <a:latin typeface="Helvetica" pitchFamily="2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+ 0.052(antioxidant4)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32776" y="1801019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Final Model Results</a:t>
            </a:r>
            <a:endParaRPr lang="en-US" sz="1850" dirty="0">
              <a:latin typeface="Helvetica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32776" y="2308920"/>
            <a:ext cx="5203695" cy="3598466"/>
          </a:xfrm>
          <a:prstGeom prst="roundRect">
            <a:avLst>
              <a:gd name="adj" fmla="val 220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28331" y="2435027"/>
            <a:ext cx="1788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85630" y="2435027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99568" y="2435027"/>
            <a:ext cx="19964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95% CI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595801" y="2435027"/>
            <a:ext cx="7456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p-value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528331" y="3285728"/>
            <a:ext cx="1788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hormone8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85630" y="3285728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0.996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019949" y="3285728"/>
            <a:ext cx="19964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0.994 – 0.999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0784808" y="3285728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0.003</a:t>
            </a:r>
            <a:endParaRPr lang="en-US" sz="1450" b="1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28331" y="3834011"/>
            <a:ext cx="1788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antioxidant5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085630" y="3834011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2.024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019949" y="3834011"/>
            <a:ext cx="19964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1.158 – 3.538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0784808" y="3834011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0.013</a:t>
            </a:r>
            <a:endParaRPr lang="en-US" sz="1450" b="1" dirty="0">
              <a:solidFill>
                <a:srgbClr val="FF0000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6528331" y="4382294"/>
            <a:ext cx="1788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antioxidant4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085630" y="4382294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1.054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019949" y="4382294"/>
            <a:ext cx="19964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1.000 – 1.110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0784808" y="4382294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0.050</a:t>
            </a:r>
            <a:endParaRPr lang="en-US" sz="1450" b="1" dirty="0">
              <a:solidFill>
                <a:srgbClr val="FF0000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6528331" y="4930577"/>
            <a:ext cx="1788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lipids2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8085630" y="4930577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1.327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019949" y="4930577"/>
            <a:ext cx="19964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0.860 – 2.048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10784808" y="4930577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0.199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528331" y="5478859"/>
            <a:ext cx="1788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lipids4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8085630" y="5478859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1.058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9019949" y="5478859"/>
            <a:ext cx="19964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0.677 – 1.654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10784808" y="5478859"/>
            <a:ext cx="1165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0.804</a:t>
            </a:r>
            <a:endParaRPr lang="en-US" sz="14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3BE071-32A6-99F6-08C9-1F6366D27762}"/>
              </a:ext>
            </a:extLst>
          </p:cNvPr>
          <p:cNvSpPr/>
          <p:nvPr/>
        </p:nvSpPr>
        <p:spPr>
          <a:xfrm>
            <a:off x="11091553" y="6448301"/>
            <a:ext cx="1100447" cy="409699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4612"/>
            <a:ext cx="5261141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Conclusions</a:t>
            </a:r>
            <a:endParaRPr lang="en-US" sz="3650" dirty="0">
              <a:latin typeface="Helvetica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33360" y="1400770"/>
            <a:ext cx="629686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Key findings from the final multivariable-adjusted model highlight three variables of note. </a:t>
            </a:r>
            <a:r>
              <a:rPr lang="en-US" sz="1450" b="1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antioxidant5</a:t>
            </a:r>
            <a:r>
              <a:rPr lang="en-US" sz="145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 emerged as the strongest risk factor (OR = 2.024), </a:t>
            </a:r>
            <a:r>
              <a:rPr lang="en-US" sz="1450" b="1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hormone8</a:t>
            </a:r>
            <a:r>
              <a:rPr lang="en-US" sz="145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 demonstrated a protective effect (OR = 0.996), and </a:t>
            </a:r>
            <a:r>
              <a:rPr lang="en-US" sz="1450" b="1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antioxidant4</a:t>
            </a:r>
            <a:r>
              <a:rPr lang="en-US" sz="145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 showed borderline significance (p = 0.050). Notably, lipid variables were significant in univariate analysis but lost significance after multivariable adjustment.</a:t>
            </a:r>
            <a:endParaRPr lang="en-US" sz="1450" dirty="0">
              <a:latin typeface="Helvetica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233360" y="3378398"/>
            <a:ext cx="3056853" cy="1375866"/>
          </a:xfrm>
          <a:prstGeom prst="roundRect">
            <a:avLst>
              <a:gd name="adj" fmla="val 568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25741" y="3570784"/>
            <a:ext cx="232572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⬆</a:t>
            </a:r>
            <a:r>
              <a:rPr lang="en-US" sz="180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 Strongest Risk</a:t>
            </a:r>
            <a:endParaRPr lang="en-US" sz="1800" dirty="0">
              <a:latin typeface="Helvetica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25741" y="3971330"/>
            <a:ext cx="26720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antioxidant5</a:t>
            </a:r>
            <a:endParaRPr lang="en-US" sz="1450" dirty="0">
              <a:latin typeface="Helvetica" pitchFamily="2" charset="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OR = 2.024</a:t>
            </a:r>
            <a:endParaRPr lang="en-US" sz="1450" dirty="0">
              <a:latin typeface="Helvetica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473367" y="3378398"/>
            <a:ext cx="3056853" cy="1375866"/>
          </a:xfrm>
          <a:prstGeom prst="roundRect">
            <a:avLst>
              <a:gd name="adj" fmla="val 568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65747" y="3570784"/>
            <a:ext cx="232572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⬇</a:t>
            </a:r>
            <a:r>
              <a:rPr lang="en-US" sz="180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 Protective</a:t>
            </a:r>
            <a:endParaRPr lang="en-US" sz="1800" dirty="0">
              <a:latin typeface="Helvetica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65747" y="3971330"/>
            <a:ext cx="26720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hormone8</a:t>
            </a:r>
            <a:endParaRPr lang="en-US" sz="1450" dirty="0">
              <a:latin typeface="Helvetica" pitchFamily="2" charset="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OR = 0.996</a:t>
            </a:r>
            <a:endParaRPr lang="en-US" sz="1450" dirty="0">
              <a:latin typeface="Helvetica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233360" y="4937423"/>
            <a:ext cx="6296860" cy="1375866"/>
          </a:xfrm>
          <a:prstGeom prst="roundRect">
            <a:avLst>
              <a:gd name="adj" fmla="val 568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25741" y="5129808"/>
            <a:ext cx="232572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⚠</a:t>
            </a:r>
            <a:r>
              <a:rPr lang="en-US" sz="180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 Borderline</a:t>
            </a:r>
            <a:endParaRPr lang="en-US" sz="1800" dirty="0">
              <a:latin typeface="Helvetica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25741" y="5530354"/>
            <a:ext cx="59120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antioxidant4</a:t>
            </a:r>
            <a:endParaRPr lang="en-US" sz="1450" dirty="0">
              <a:latin typeface="Helvetica" pitchFamily="2" charset="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p = 0.050</a:t>
            </a:r>
            <a:endParaRPr lang="en-US" sz="1450" dirty="0">
              <a:latin typeface="Helvetica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2A2546-FB24-623F-3133-9EF66B9AA3E5}"/>
              </a:ext>
            </a:extLst>
          </p:cNvPr>
          <p:cNvSpPr/>
          <p:nvPr/>
        </p:nvSpPr>
        <p:spPr>
          <a:xfrm>
            <a:off x="11091553" y="6448301"/>
            <a:ext cx="1100447" cy="409699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4487" y="254000"/>
            <a:ext cx="5261141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Helvetica" pitchFamily="2" charset="0"/>
                <a:ea typeface="Crimson Pro Bold" pitchFamily="34" charset="-122"/>
                <a:cs typeface="Crimson Pro Bold" pitchFamily="34" charset="-120"/>
              </a:rPr>
              <a:t>References</a:t>
            </a:r>
            <a:endParaRPr lang="en-US" sz="3650" dirty="0">
              <a:latin typeface="Helvetica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44487" y="1483898"/>
            <a:ext cx="10251174" cy="4425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57200" indent="-457200" algn="just">
              <a:lnSpc>
                <a:spcPct val="132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Hosmer, D. W., </a:t>
            </a:r>
            <a:r>
              <a:rPr lang="en-US" sz="2000" dirty="0" err="1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Lemeshow</a:t>
            </a:r>
            <a:r>
              <a:rPr lang="en-US" sz="20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, S., &amp; Sturdivant, R. X. (2013). Applied Logistic Regression (3rd ed.). Wiley. </a:t>
            </a:r>
          </a:p>
          <a:p>
            <a:pPr marL="457200" indent="-457200" algn="just">
              <a:lnSpc>
                <a:spcPct val="132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Field, A., Miles, J., &amp; Field, Z. (2012). Discovering Statistics Using R. Sage Publications. </a:t>
            </a:r>
          </a:p>
          <a:p>
            <a:pPr marL="457200" indent="-457200" algn="just">
              <a:lnSpc>
                <a:spcPct val="132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Harrell, F. E. (2015). Regression Modeling Strategies: With Applications to Linear Models, Logistic and Ordinal Regression, and Survival Analysis (2nd ed.). Springer. </a:t>
            </a:r>
          </a:p>
          <a:p>
            <a:pPr marL="457200" indent="-457200" algn="just">
              <a:lnSpc>
                <a:spcPct val="132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R Core Team. (2024). R: A Language and Environment for Statistical Computing. R Foundation for Statistical Computing. </a:t>
            </a:r>
          </a:p>
          <a:p>
            <a:pPr marL="457200" indent="-457200" algn="just">
              <a:lnSpc>
                <a:spcPct val="132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443728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Cohen, J., Cohen, P., West, S. G., &amp; Aiken, L. S. (2003). Applied Multiple Regression/Correlation Analysis for the Behavioral Sciences (3rd ed.). Lawrence Erlbaum Associates.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54FAF7-F378-775D-D128-8B6D915C6881}"/>
              </a:ext>
            </a:extLst>
          </p:cNvPr>
          <p:cNvSpPr/>
          <p:nvPr/>
        </p:nvSpPr>
        <p:spPr>
          <a:xfrm>
            <a:off x="11091553" y="6448301"/>
            <a:ext cx="1100447" cy="409699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6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16880" y="2141299"/>
            <a:ext cx="412781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800" dirty="0">
                <a:solidFill>
                  <a:srgbClr val="443728"/>
                </a:solidFill>
                <a:latin typeface="Edwardian Script ITC" panose="030303020407070D0804" pitchFamily="66" charset="77"/>
                <a:ea typeface="Crimson Pro Bold" pitchFamily="34" charset="-122"/>
                <a:cs typeface="Crimson Pro Bold" pitchFamily="34" charset="-120"/>
              </a:rPr>
              <a:t>Thank You</a:t>
            </a:r>
            <a:endParaRPr lang="en-US" sz="13800" dirty="0">
              <a:latin typeface="Edwardian Script ITC" panose="030303020407070D0804" pitchFamily="66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648805-8F6C-CEF9-5E43-C66C036EF051}"/>
              </a:ext>
            </a:extLst>
          </p:cNvPr>
          <p:cNvSpPr/>
          <p:nvPr/>
        </p:nvSpPr>
        <p:spPr>
          <a:xfrm>
            <a:off x="11091553" y="6448301"/>
            <a:ext cx="1100447" cy="409699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742</Words>
  <Application>Microsoft Macintosh PowerPoint</Application>
  <PresentationFormat>Widescreen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Edwardian Script ITC</vt:lpstr>
      <vt:lpstr>Calibri</vt:lpstr>
      <vt:lpstr>Wingdings</vt:lpstr>
      <vt:lpstr>Open Sans</vt:lpstr>
      <vt:lpstr>Arial</vt:lpstr>
      <vt:lpstr>Times New Roman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SADHIN BHUIYAN</cp:lastModifiedBy>
  <cp:revision>10</cp:revision>
  <dcterms:created xsi:type="dcterms:W3CDTF">2026-06-19T04:21:15Z</dcterms:created>
  <dcterms:modified xsi:type="dcterms:W3CDTF">2026-06-21T08:35:49Z</dcterms:modified>
</cp:coreProperties>
</file>